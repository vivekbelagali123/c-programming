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8" r:id="rId5"/>
    <p:sldId id="269" r:id="rId6"/>
    <p:sldId id="263" r:id="rId7"/>
    <p:sldId id="264" r:id="rId8"/>
    <p:sldId id="266" r:id="rId9"/>
    <p:sldId id="265" r:id="rId10"/>
    <p:sldId id="267" r:id="rId11"/>
    <p:sldId id="258" r:id="rId12"/>
    <p:sldId id="259" r:id="rId13"/>
    <p:sldId id="260" r:id="rId14"/>
    <p:sldId id="26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4/18/2023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4/18/2023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4/18/2023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4/18/2023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4/18/2023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4/18/2023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4/18/2023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4/18/2023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4/18/2023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4/18/2023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4/18/2023</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4/18/2023</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3C365-ED4C-9F6D-DD9C-2A85FFE5F16A}"/>
              </a:ext>
            </a:extLst>
          </p:cNvPr>
          <p:cNvSpPr>
            <a:spLocks noGrp="1"/>
          </p:cNvSpPr>
          <p:nvPr>
            <p:ph type="ctrTitle"/>
          </p:nvPr>
        </p:nvSpPr>
        <p:spPr/>
        <p:txBody>
          <a:bodyPr/>
          <a:lstStyle/>
          <a:p>
            <a:r>
              <a:rPr lang="en-US" sz="4800" dirty="0"/>
              <a:t>Student Management System</a:t>
            </a:r>
            <a:endParaRPr lang="en-IN" sz="4800" dirty="0"/>
          </a:p>
        </p:txBody>
      </p:sp>
      <p:sp>
        <p:nvSpPr>
          <p:cNvPr id="3" name="Subtitle 2">
            <a:extLst>
              <a:ext uri="{FF2B5EF4-FFF2-40B4-BE49-F238E27FC236}">
                <a16:creationId xmlns:a16="http://schemas.microsoft.com/office/drawing/2014/main" id="{DCD2978F-815B-8A14-FF7A-7A605101A920}"/>
              </a:ext>
            </a:extLst>
          </p:cNvPr>
          <p:cNvSpPr>
            <a:spLocks noGrp="1"/>
          </p:cNvSpPr>
          <p:nvPr>
            <p:ph type="subTitle" idx="1"/>
          </p:nvPr>
        </p:nvSpPr>
        <p:spPr/>
        <p:txBody>
          <a:bodyPr>
            <a:normAutofit lnSpcReduction="10000"/>
          </a:bodyPr>
          <a:lstStyle/>
          <a:p>
            <a:r>
              <a:rPr lang="en-US" dirty="0" err="1"/>
              <a:t>Debneet</a:t>
            </a:r>
            <a:r>
              <a:rPr lang="en-US" dirty="0"/>
              <a:t> </a:t>
            </a:r>
            <a:r>
              <a:rPr lang="en-US" dirty="0" err="1"/>
              <a:t>Balabantaray</a:t>
            </a:r>
            <a:r>
              <a:rPr lang="en-US" dirty="0"/>
              <a:t> – ENG20CS0422</a:t>
            </a:r>
          </a:p>
          <a:p>
            <a:r>
              <a:rPr lang="en-US" dirty="0" err="1"/>
              <a:t>Jasraj</a:t>
            </a:r>
            <a:r>
              <a:rPr lang="en-US" dirty="0"/>
              <a:t> Singh – ENG20CS0423</a:t>
            </a:r>
          </a:p>
          <a:p>
            <a:r>
              <a:rPr lang="en-US" dirty="0"/>
              <a:t>Vivek Belagali – ENG20CS0414</a:t>
            </a:r>
            <a:endParaRPr lang="en-IN" dirty="0"/>
          </a:p>
        </p:txBody>
      </p:sp>
      <p:sp>
        <p:nvSpPr>
          <p:cNvPr id="4" name="TextBox 3">
            <a:extLst>
              <a:ext uri="{FF2B5EF4-FFF2-40B4-BE49-F238E27FC236}">
                <a16:creationId xmlns:a16="http://schemas.microsoft.com/office/drawing/2014/main" id="{BF709BCC-5476-952D-5569-30851BDBDAA3}"/>
              </a:ext>
            </a:extLst>
          </p:cNvPr>
          <p:cNvSpPr txBox="1"/>
          <p:nvPr/>
        </p:nvSpPr>
        <p:spPr>
          <a:xfrm>
            <a:off x="9123680" y="4490720"/>
            <a:ext cx="2905760" cy="677108"/>
          </a:xfrm>
          <a:prstGeom prst="rect">
            <a:avLst/>
          </a:prstGeom>
          <a:noFill/>
        </p:spPr>
        <p:txBody>
          <a:bodyPr wrap="square" rtlCol="0">
            <a:spAutoFit/>
          </a:bodyPr>
          <a:lstStyle/>
          <a:p>
            <a:r>
              <a:rPr lang="en-US" sz="1900" dirty="0"/>
              <a:t>Under the supervision of</a:t>
            </a:r>
          </a:p>
          <a:p>
            <a:r>
              <a:rPr lang="en-US" sz="1900" dirty="0"/>
              <a:t>Prof. Pradeep Kumar</a:t>
            </a:r>
            <a:endParaRPr lang="en-IN" sz="1900" dirty="0"/>
          </a:p>
        </p:txBody>
      </p:sp>
    </p:spTree>
    <p:extLst>
      <p:ext uri="{BB962C8B-B14F-4D97-AF65-F5344CB8AC3E}">
        <p14:creationId xmlns:p14="http://schemas.microsoft.com/office/powerpoint/2010/main" val="30979617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3A00-C73A-9892-4359-7FF2A9F3C892}"/>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2500EFFB-F144-259E-888E-AD3D20CA2C4E}"/>
              </a:ext>
            </a:extLst>
          </p:cNvPr>
          <p:cNvSpPr>
            <a:spLocks noGrp="1"/>
          </p:cNvSpPr>
          <p:nvPr>
            <p:ph idx="1"/>
          </p:nvPr>
        </p:nvSpPr>
        <p:spPr/>
        <p:txBody>
          <a:bodyPr/>
          <a:lstStyle/>
          <a:p>
            <a:r>
              <a:rPr lang="en-US" dirty="0"/>
              <a:t>The Student Management System (SMS) is a web-based application that allows educational institutions to manage their student-related data efficiently. The system provides an easy-to-use interface for administrators, teachers, and students to access and update information related to enrollment, attendance, grades, and more.</a:t>
            </a:r>
          </a:p>
          <a:p>
            <a:r>
              <a:rPr lang="en-US" dirty="0"/>
              <a:t>The SMS is built using PHP programming language, which is a popular choice for web development due to its simplicity, flexibility, and scalability. It also uses MySQL as the database management system to store and retrieve data efficiently.</a:t>
            </a:r>
          </a:p>
          <a:p>
            <a:endParaRPr lang="en-IN" dirty="0"/>
          </a:p>
        </p:txBody>
      </p:sp>
    </p:spTree>
    <p:extLst>
      <p:ext uri="{BB962C8B-B14F-4D97-AF65-F5344CB8AC3E}">
        <p14:creationId xmlns:p14="http://schemas.microsoft.com/office/powerpoint/2010/main" val="3153354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72F8-C3F5-7929-3BBC-5602DA8587A1}"/>
              </a:ext>
            </a:extLst>
          </p:cNvPr>
          <p:cNvSpPr>
            <a:spLocks noGrp="1"/>
          </p:cNvSpPr>
          <p:nvPr>
            <p:ph type="title"/>
          </p:nvPr>
        </p:nvSpPr>
        <p:spPr/>
        <p:txBody>
          <a:bodyPr/>
          <a:lstStyle/>
          <a:p>
            <a:r>
              <a:rPr lang="en-US" dirty="0"/>
              <a:t>Project Requirements</a:t>
            </a:r>
            <a:endParaRPr lang="en-IN" dirty="0"/>
          </a:p>
        </p:txBody>
      </p:sp>
      <p:graphicFrame>
        <p:nvGraphicFramePr>
          <p:cNvPr id="6" name="Table 6">
            <a:extLst>
              <a:ext uri="{FF2B5EF4-FFF2-40B4-BE49-F238E27FC236}">
                <a16:creationId xmlns:a16="http://schemas.microsoft.com/office/drawing/2014/main" id="{BB2377D7-ED47-84F8-6CAD-5A8D38D69694}"/>
              </a:ext>
            </a:extLst>
          </p:cNvPr>
          <p:cNvGraphicFramePr>
            <a:graphicFrameLocks noGrp="1"/>
          </p:cNvGraphicFramePr>
          <p:nvPr>
            <p:ph idx="1"/>
            <p:extLst>
              <p:ext uri="{D42A27DB-BD31-4B8C-83A1-F6EECF244321}">
                <p14:modId xmlns:p14="http://schemas.microsoft.com/office/powerpoint/2010/main" val="1215876799"/>
              </p:ext>
            </p:extLst>
          </p:nvPr>
        </p:nvGraphicFramePr>
        <p:xfrm>
          <a:off x="680321" y="3015530"/>
          <a:ext cx="9613900" cy="2225040"/>
        </p:xfrm>
        <a:graphic>
          <a:graphicData uri="http://schemas.openxmlformats.org/drawingml/2006/table">
            <a:tbl>
              <a:tblPr bandRow="1">
                <a:tableStyleId>{5C22544A-7EE6-4342-B048-85BDC9FD1C3A}</a:tableStyleId>
              </a:tblPr>
              <a:tblGrid>
                <a:gridCol w="4806950">
                  <a:extLst>
                    <a:ext uri="{9D8B030D-6E8A-4147-A177-3AD203B41FA5}">
                      <a16:colId xmlns:a16="http://schemas.microsoft.com/office/drawing/2014/main" val="70943981"/>
                    </a:ext>
                  </a:extLst>
                </a:gridCol>
                <a:gridCol w="4806950">
                  <a:extLst>
                    <a:ext uri="{9D8B030D-6E8A-4147-A177-3AD203B41FA5}">
                      <a16:colId xmlns:a16="http://schemas.microsoft.com/office/drawing/2014/main" val="343938565"/>
                    </a:ext>
                  </a:extLst>
                </a:gridCol>
              </a:tblGrid>
              <a:tr h="370840">
                <a:tc>
                  <a:txBody>
                    <a:bodyPr/>
                    <a:lstStyle/>
                    <a:p>
                      <a:pPr algn="ctr"/>
                      <a:r>
                        <a:rPr lang="en-US" dirty="0"/>
                        <a:t>Project Name</a:t>
                      </a:r>
                      <a:endParaRPr lang="en-IN" dirty="0"/>
                    </a:p>
                  </a:txBody>
                  <a:tcPr/>
                </a:tc>
                <a:tc>
                  <a:txBody>
                    <a:bodyPr/>
                    <a:lstStyle/>
                    <a:p>
                      <a:pPr algn="ctr"/>
                      <a:r>
                        <a:rPr lang="en-US" dirty="0"/>
                        <a:t>Student Management System</a:t>
                      </a:r>
                      <a:endParaRPr lang="en-IN" dirty="0"/>
                    </a:p>
                  </a:txBody>
                  <a:tcPr/>
                </a:tc>
                <a:extLst>
                  <a:ext uri="{0D108BD9-81ED-4DB2-BD59-A6C34878D82A}">
                    <a16:rowId xmlns:a16="http://schemas.microsoft.com/office/drawing/2014/main" val="4048031029"/>
                  </a:ext>
                </a:extLst>
              </a:tr>
              <a:tr h="370840">
                <a:tc>
                  <a:txBody>
                    <a:bodyPr/>
                    <a:lstStyle/>
                    <a:p>
                      <a:pPr algn="ctr"/>
                      <a:r>
                        <a:rPr lang="en-US" dirty="0"/>
                        <a:t>Language Used</a:t>
                      </a:r>
                      <a:endParaRPr lang="en-IN" dirty="0"/>
                    </a:p>
                  </a:txBody>
                  <a:tcPr/>
                </a:tc>
                <a:tc>
                  <a:txBody>
                    <a:bodyPr/>
                    <a:lstStyle/>
                    <a:p>
                      <a:pPr algn="ctr"/>
                      <a:r>
                        <a:rPr lang="en-IN" sz="1800" b="0" i="0" kern="1200" dirty="0">
                          <a:solidFill>
                            <a:schemeClr val="dk1"/>
                          </a:solidFill>
                          <a:effectLst/>
                          <a:latin typeface="+mn-lt"/>
                          <a:ea typeface="+mn-ea"/>
                          <a:cs typeface="+mn-cs"/>
                        </a:rPr>
                        <a:t>PHP5.6, PHP7.x</a:t>
                      </a:r>
                      <a:endParaRPr lang="en-IN" dirty="0"/>
                    </a:p>
                  </a:txBody>
                  <a:tcPr/>
                </a:tc>
                <a:extLst>
                  <a:ext uri="{0D108BD9-81ED-4DB2-BD59-A6C34878D82A}">
                    <a16:rowId xmlns:a16="http://schemas.microsoft.com/office/drawing/2014/main" val="4027000696"/>
                  </a:ext>
                </a:extLst>
              </a:tr>
              <a:tr h="370840">
                <a:tc>
                  <a:txBody>
                    <a:bodyPr/>
                    <a:lstStyle/>
                    <a:p>
                      <a:pPr algn="ctr"/>
                      <a:r>
                        <a:rPr lang="en-US" dirty="0"/>
                        <a:t>Database</a:t>
                      </a:r>
                      <a:endParaRPr lang="en-IN" dirty="0"/>
                    </a:p>
                  </a:txBody>
                  <a:tcPr/>
                </a:tc>
                <a:tc>
                  <a:txBody>
                    <a:bodyPr/>
                    <a:lstStyle/>
                    <a:p>
                      <a:pPr algn="ctr" fontAlgn="ctr"/>
                      <a:r>
                        <a:rPr lang="en-IN" dirty="0">
                          <a:effectLst/>
                        </a:rPr>
                        <a:t>MySQL 5.x</a:t>
                      </a:r>
                    </a:p>
                  </a:txBody>
                  <a:tcPr marL="38100" marR="38100" marT="38100" marB="38100" anchor="ctr"/>
                </a:tc>
                <a:extLst>
                  <a:ext uri="{0D108BD9-81ED-4DB2-BD59-A6C34878D82A}">
                    <a16:rowId xmlns:a16="http://schemas.microsoft.com/office/drawing/2014/main" val="936073007"/>
                  </a:ext>
                </a:extLst>
              </a:tr>
              <a:tr h="370840">
                <a:tc>
                  <a:txBody>
                    <a:bodyPr/>
                    <a:lstStyle/>
                    <a:p>
                      <a:pPr algn="ctr"/>
                      <a:r>
                        <a:rPr lang="en-US" dirty="0"/>
                        <a:t>User Interface Design</a:t>
                      </a:r>
                      <a:endParaRPr lang="en-IN" dirty="0"/>
                    </a:p>
                  </a:txBody>
                  <a:tcPr/>
                </a:tc>
                <a:tc>
                  <a:txBody>
                    <a:bodyPr/>
                    <a:lstStyle/>
                    <a:p>
                      <a:pPr algn="ctr" fontAlgn="ctr"/>
                      <a:r>
                        <a:rPr lang="en-IN" dirty="0">
                          <a:effectLst/>
                        </a:rPr>
                        <a:t>HTML, AJAX,JQUERY,JAVASCRIPT</a:t>
                      </a:r>
                    </a:p>
                  </a:txBody>
                  <a:tcPr marL="38100" marR="38100" marT="38100" marB="38100" anchor="ctr"/>
                </a:tc>
                <a:extLst>
                  <a:ext uri="{0D108BD9-81ED-4DB2-BD59-A6C34878D82A}">
                    <a16:rowId xmlns:a16="http://schemas.microsoft.com/office/drawing/2014/main" val="933719592"/>
                  </a:ext>
                </a:extLst>
              </a:tr>
              <a:tr h="370840">
                <a:tc>
                  <a:txBody>
                    <a:bodyPr/>
                    <a:lstStyle/>
                    <a:p>
                      <a:pPr algn="ctr"/>
                      <a:r>
                        <a:rPr lang="en-US" dirty="0"/>
                        <a:t>Web Browser</a:t>
                      </a:r>
                      <a:endParaRPr lang="en-IN" dirty="0"/>
                    </a:p>
                  </a:txBody>
                  <a:tcPr/>
                </a:tc>
                <a:tc>
                  <a:txBody>
                    <a:bodyPr/>
                    <a:lstStyle/>
                    <a:p>
                      <a:pPr algn="ctr"/>
                      <a:r>
                        <a:rPr lang="en-IN" sz="1800" b="0" i="0" kern="1200" dirty="0">
                          <a:solidFill>
                            <a:schemeClr val="dk1"/>
                          </a:solidFill>
                          <a:effectLst/>
                          <a:latin typeface="+mn-lt"/>
                          <a:ea typeface="+mn-ea"/>
                          <a:cs typeface="+mn-cs"/>
                        </a:rPr>
                        <a:t>Mozilla, Google Chrome, Brave</a:t>
                      </a:r>
                      <a:endParaRPr lang="en-IN" dirty="0"/>
                    </a:p>
                  </a:txBody>
                  <a:tcPr/>
                </a:tc>
                <a:extLst>
                  <a:ext uri="{0D108BD9-81ED-4DB2-BD59-A6C34878D82A}">
                    <a16:rowId xmlns:a16="http://schemas.microsoft.com/office/drawing/2014/main" val="4132486818"/>
                  </a:ext>
                </a:extLst>
              </a:tr>
              <a:tr h="370840">
                <a:tc>
                  <a:txBody>
                    <a:bodyPr/>
                    <a:lstStyle/>
                    <a:p>
                      <a:pPr algn="ctr"/>
                      <a:r>
                        <a:rPr lang="en-US" dirty="0"/>
                        <a:t>Software</a:t>
                      </a:r>
                      <a:endParaRPr lang="en-IN" dirty="0"/>
                    </a:p>
                  </a:txBody>
                  <a:tcPr/>
                </a:tc>
                <a:tc>
                  <a:txBody>
                    <a:bodyPr/>
                    <a:lstStyle/>
                    <a:p>
                      <a:pPr algn="ctr"/>
                      <a:r>
                        <a:rPr lang="en-US" dirty="0"/>
                        <a:t>XAMPP</a:t>
                      </a:r>
                      <a:endParaRPr lang="en-IN" dirty="0"/>
                    </a:p>
                  </a:txBody>
                  <a:tcPr/>
                </a:tc>
                <a:extLst>
                  <a:ext uri="{0D108BD9-81ED-4DB2-BD59-A6C34878D82A}">
                    <a16:rowId xmlns:a16="http://schemas.microsoft.com/office/drawing/2014/main" val="4034544797"/>
                  </a:ext>
                </a:extLst>
              </a:tr>
            </a:tbl>
          </a:graphicData>
        </a:graphic>
      </p:graphicFrame>
    </p:spTree>
    <p:extLst>
      <p:ext uri="{BB962C8B-B14F-4D97-AF65-F5344CB8AC3E}">
        <p14:creationId xmlns:p14="http://schemas.microsoft.com/office/powerpoint/2010/main" val="1590302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EFDE-D9E9-C480-89D2-579CB3322417}"/>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5E764118-A2C8-20E9-B67E-E78929B5E995}"/>
              </a:ext>
            </a:extLst>
          </p:cNvPr>
          <p:cNvSpPr>
            <a:spLocks noGrp="1"/>
          </p:cNvSpPr>
          <p:nvPr>
            <p:ph idx="1"/>
          </p:nvPr>
        </p:nvSpPr>
        <p:spPr>
          <a:xfrm>
            <a:off x="680321" y="2336873"/>
            <a:ext cx="9613861" cy="4205970"/>
          </a:xfrm>
        </p:spPr>
        <p:txBody>
          <a:bodyPr>
            <a:noAutofit/>
          </a:bodyPr>
          <a:lstStyle/>
          <a:p>
            <a:r>
              <a:rPr lang="en-IN" sz="2250" dirty="0"/>
              <a:t>The Student Management System project aims to automate the manual processes involved in managing student-related activities within a school or educational institution. The current system is time-consuming and costly, and the goal is to make it more efficient and cost-effective. The project is developed using PHP and MySQL, and it provides a web-based interface for students and school authorities to manage and access information related to classes, students, notices, and reports. The system allows administrators to manage classes, students, notices, public notices, and pages. The students can access their profile, view notices, and change their password. The non-registered users can access the welcome page, about us, and contact us pages. The project provides a complete solution for managing student-related activities within an educational institution.</a:t>
            </a:r>
          </a:p>
        </p:txBody>
      </p:sp>
    </p:spTree>
    <p:extLst>
      <p:ext uri="{BB962C8B-B14F-4D97-AF65-F5344CB8AC3E}">
        <p14:creationId xmlns:p14="http://schemas.microsoft.com/office/powerpoint/2010/main" val="12023187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49AD-340E-FCB0-A37C-9D4BF0B1EA60}"/>
              </a:ext>
            </a:extLst>
          </p:cNvPr>
          <p:cNvSpPr>
            <a:spLocks noGrp="1"/>
          </p:cNvSpPr>
          <p:nvPr>
            <p:ph type="title"/>
          </p:nvPr>
        </p:nvSpPr>
        <p:spPr/>
        <p:txBody>
          <a:bodyPr/>
          <a:lstStyle/>
          <a:p>
            <a:r>
              <a:rPr lang="en-US" dirty="0"/>
              <a:t>Flowchart</a:t>
            </a:r>
            <a:endParaRPr lang="en-IN" dirty="0"/>
          </a:p>
        </p:txBody>
      </p:sp>
      <p:pic>
        <p:nvPicPr>
          <p:cNvPr id="4" name="Picture 3">
            <a:extLst>
              <a:ext uri="{FF2B5EF4-FFF2-40B4-BE49-F238E27FC236}">
                <a16:creationId xmlns:a16="http://schemas.microsoft.com/office/drawing/2014/main" id="{A613488E-03BB-8E76-85EF-DAFFA03EBF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35404" y="2160493"/>
            <a:ext cx="5521191" cy="4527251"/>
          </a:xfrm>
          <a:prstGeom prst="rect">
            <a:avLst/>
          </a:prstGeom>
          <a:noFill/>
          <a:ln>
            <a:noFill/>
          </a:ln>
        </p:spPr>
      </p:pic>
    </p:spTree>
    <p:extLst>
      <p:ext uri="{BB962C8B-B14F-4D97-AF65-F5344CB8AC3E}">
        <p14:creationId xmlns:p14="http://schemas.microsoft.com/office/powerpoint/2010/main" val="3126169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A2B97-F877-458E-24F2-33846E95B666}"/>
              </a:ext>
            </a:extLst>
          </p:cNvPr>
          <p:cNvSpPr>
            <a:spLocks noGrp="1"/>
          </p:cNvSpPr>
          <p:nvPr>
            <p:ph type="title"/>
          </p:nvPr>
        </p:nvSpPr>
        <p:spPr/>
        <p:txBody>
          <a:bodyPr/>
          <a:lstStyle/>
          <a:p>
            <a:r>
              <a:rPr lang="en-US" dirty="0"/>
              <a:t>Project Modules</a:t>
            </a:r>
            <a:endParaRPr lang="en-IN" dirty="0"/>
          </a:p>
        </p:txBody>
      </p:sp>
      <p:sp>
        <p:nvSpPr>
          <p:cNvPr id="3" name="Content Placeholder 2">
            <a:extLst>
              <a:ext uri="{FF2B5EF4-FFF2-40B4-BE49-F238E27FC236}">
                <a16:creationId xmlns:a16="http://schemas.microsoft.com/office/drawing/2014/main" id="{4352E761-292B-998C-C4EF-F94198C22559}"/>
              </a:ext>
            </a:extLst>
          </p:cNvPr>
          <p:cNvSpPr>
            <a:spLocks noGrp="1"/>
          </p:cNvSpPr>
          <p:nvPr>
            <p:ph idx="1"/>
          </p:nvPr>
        </p:nvSpPr>
        <p:spPr>
          <a:xfrm>
            <a:off x="680321" y="2336873"/>
            <a:ext cx="9613861" cy="1886335"/>
          </a:xfrm>
        </p:spPr>
        <p:txBody>
          <a:bodyPr/>
          <a:lstStyle/>
          <a:p>
            <a:pPr fontAlgn="base"/>
            <a:r>
              <a:rPr lang="en-US" b="0" i="0" dirty="0">
                <a:effectLst/>
                <a:latin typeface="+mj-lt"/>
              </a:rPr>
              <a:t>The two main users involved in this system are</a:t>
            </a:r>
          </a:p>
          <a:p>
            <a:pPr marL="457200" indent="-457200" algn="l" fontAlgn="base">
              <a:buFont typeface="+mj-lt"/>
              <a:buAutoNum type="arabicPeriod"/>
            </a:pPr>
            <a:r>
              <a:rPr lang="en-US" b="0" i="0" dirty="0">
                <a:effectLst/>
                <a:latin typeface="+mj-lt"/>
              </a:rPr>
              <a:t>User (i.e. Students)</a:t>
            </a:r>
          </a:p>
          <a:p>
            <a:pPr marL="457200" indent="-457200" algn="l" fontAlgn="base">
              <a:buFont typeface="+mj-lt"/>
              <a:buAutoNum type="arabicPeriod"/>
            </a:pPr>
            <a:r>
              <a:rPr lang="en-US" b="0" i="0" dirty="0">
                <a:effectLst/>
                <a:latin typeface="+mj-lt"/>
              </a:rPr>
              <a:t>Admin</a:t>
            </a:r>
          </a:p>
          <a:p>
            <a:endParaRPr lang="en-IN" dirty="0">
              <a:latin typeface="+mj-lt"/>
            </a:endParaRPr>
          </a:p>
        </p:txBody>
      </p:sp>
    </p:spTree>
    <p:extLst>
      <p:ext uri="{BB962C8B-B14F-4D97-AF65-F5344CB8AC3E}">
        <p14:creationId xmlns:p14="http://schemas.microsoft.com/office/powerpoint/2010/main" val="3822611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82B2-AD1A-275D-CE3B-6D04EAB629ED}"/>
              </a:ext>
            </a:extLst>
          </p:cNvPr>
          <p:cNvSpPr>
            <a:spLocks noGrp="1"/>
          </p:cNvSpPr>
          <p:nvPr>
            <p:ph type="title"/>
          </p:nvPr>
        </p:nvSpPr>
        <p:spPr/>
        <p:txBody>
          <a:bodyPr>
            <a:normAutofit/>
          </a:bodyPr>
          <a:lstStyle/>
          <a:p>
            <a:r>
              <a:rPr lang="en-US" sz="2800" dirty="0"/>
              <a:t>Admin</a:t>
            </a:r>
            <a:endParaRPr lang="en-IN" sz="2800" dirty="0"/>
          </a:p>
        </p:txBody>
      </p:sp>
      <p:sp>
        <p:nvSpPr>
          <p:cNvPr id="3" name="Content Placeholder 2">
            <a:extLst>
              <a:ext uri="{FF2B5EF4-FFF2-40B4-BE49-F238E27FC236}">
                <a16:creationId xmlns:a16="http://schemas.microsoft.com/office/drawing/2014/main" id="{3DE0F278-A44B-C615-08E9-164FA217F7BF}"/>
              </a:ext>
            </a:extLst>
          </p:cNvPr>
          <p:cNvSpPr>
            <a:spLocks noGrp="1"/>
          </p:cNvSpPr>
          <p:nvPr>
            <p:ph idx="1"/>
          </p:nvPr>
        </p:nvSpPr>
        <p:spPr>
          <a:xfrm>
            <a:off x="680321" y="2336873"/>
            <a:ext cx="9613861" cy="3599316"/>
          </a:xfrm>
        </p:spPr>
        <p:txBody>
          <a:bodyPr>
            <a:noAutofit/>
          </a:bodyPr>
          <a:lstStyle/>
          <a:p>
            <a:pPr marL="457200" indent="-457200" algn="l" fontAlgn="base">
              <a:buFont typeface="+mj-lt"/>
              <a:buAutoNum type="arabicPeriod"/>
            </a:pPr>
            <a:r>
              <a:rPr lang="en-US" b="1" i="0" dirty="0">
                <a:effectLst/>
              </a:rPr>
              <a:t>Dashboard</a:t>
            </a:r>
            <a:r>
              <a:rPr lang="en-US" b="0" i="0" dirty="0">
                <a:effectLst/>
              </a:rPr>
              <a:t>: In this section, admin can see all detail in brief like Total Classes, Total Students, Total Class Notices and Total Public Notices.</a:t>
            </a:r>
          </a:p>
          <a:p>
            <a:pPr marL="457200" indent="-457200" algn="l" fontAlgn="base">
              <a:buFont typeface="+mj-lt"/>
              <a:buAutoNum type="arabicPeriod"/>
            </a:pPr>
            <a:r>
              <a:rPr lang="en-US" b="1" i="0" dirty="0">
                <a:effectLst/>
              </a:rPr>
              <a:t>Class</a:t>
            </a:r>
            <a:r>
              <a:rPr lang="en-US" b="0" i="0" dirty="0">
                <a:effectLst/>
              </a:rPr>
              <a:t>: In this section, admin can manage class (Add/Update/Delete).</a:t>
            </a:r>
          </a:p>
          <a:p>
            <a:pPr marL="457200" indent="-457200" algn="l" fontAlgn="base">
              <a:buFont typeface="+mj-lt"/>
              <a:buAutoNum type="arabicPeriod"/>
            </a:pPr>
            <a:r>
              <a:rPr lang="en-US" b="1" i="0" dirty="0">
                <a:effectLst/>
              </a:rPr>
              <a:t>Students</a:t>
            </a:r>
            <a:r>
              <a:rPr lang="en-US" b="0" i="0" dirty="0">
                <a:effectLst/>
              </a:rPr>
              <a:t>: In this section, admin can manage the students (Add/Update/Delete).</a:t>
            </a:r>
          </a:p>
          <a:p>
            <a:pPr marL="457200" indent="-457200" algn="l" fontAlgn="base">
              <a:buFont typeface="+mj-lt"/>
              <a:buAutoNum type="arabicPeriod"/>
            </a:pPr>
            <a:r>
              <a:rPr lang="en-US" b="1" i="0" dirty="0">
                <a:effectLst/>
              </a:rPr>
              <a:t>Notices:</a:t>
            </a:r>
            <a:r>
              <a:rPr lang="en-US" b="0" i="0" dirty="0">
                <a:effectLst/>
              </a:rPr>
              <a:t> In this section, the admin can manage notices (Add/Update/Delete).</a:t>
            </a:r>
            <a:endParaRPr lang="en-IN" dirty="0"/>
          </a:p>
        </p:txBody>
      </p:sp>
    </p:spTree>
    <p:extLst>
      <p:ext uri="{BB962C8B-B14F-4D97-AF65-F5344CB8AC3E}">
        <p14:creationId xmlns:p14="http://schemas.microsoft.com/office/powerpoint/2010/main" val="37570640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F4912-7D8D-8B4E-72F7-1918A489E2CB}"/>
              </a:ext>
            </a:extLst>
          </p:cNvPr>
          <p:cNvSpPr>
            <a:spLocks noGrp="1"/>
          </p:cNvSpPr>
          <p:nvPr>
            <p:ph idx="1"/>
          </p:nvPr>
        </p:nvSpPr>
        <p:spPr/>
        <p:txBody>
          <a:bodyPr>
            <a:noAutofit/>
          </a:bodyPr>
          <a:lstStyle/>
          <a:p>
            <a:pPr marL="457200" indent="-457200" algn="l" fontAlgn="base">
              <a:buFont typeface="+mj-lt"/>
              <a:buAutoNum type="arabicPeriod" startAt="5"/>
            </a:pPr>
            <a:r>
              <a:rPr lang="en-US" b="1" i="0" dirty="0">
                <a:effectLst/>
              </a:rPr>
              <a:t>Public Notices:</a:t>
            </a:r>
            <a:r>
              <a:rPr lang="en-US" b="0" i="0" dirty="0">
                <a:effectLst/>
              </a:rPr>
              <a:t> In this section, the admin can manage public notices.</a:t>
            </a:r>
          </a:p>
          <a:p>
            <a:pPr marL="457200" indent="-457200" algn="l" fontAlgn="base">
              <a:buFont typeface="+mj-lt"/>
              <a:buAutoNum type="arabicPeriod" startAt="5"/>
            </a:pPr>
            <a:r>
              <a:rPr lang="en-US" b="1" i="0" dirty="0">
                <a:effectLst/>
              </a:rPr>
              <a:t>Pages:</a:t>
            </a:r>
            <a:r>
              <a:rPr lang="en-US" b="0" i="0" dirty="0">
                <a:effectLst/>
              </a:rPr>
              <a:t> In this section admin, can manage about us and contact us page of administration</a:t>
            </a:r>
          </a:p>
          <a:p>
            <a:pPr marL="457200" indent="-457200" algn="l" fontAlgn="base">
              <a:buFont typeface="+mj-lt"/>
              <a:buAutoNum type="arabicPeriod" startAt="5"/>
            </a:pPr>
            <a:r>
              <a:rPr lang="en-US" b="1" i="0" dirty="0">
                <a:effectLst/>
              </a:rPr>
              <a:t>Search:</a:t>
            </a:r>
            <a:r>
              <a:rPr lang="en-US" b="0" i="0" dirty="0">
                <a:effectLst/>
              </a:rPr>
              <a:t> In this section admin, can search students by their student id.</a:t>
            </a:r>
          </a:p>
          <a:p>
            <a:pPr marL="457200" indent="-457200" algn="l" fontAlgn="base">
              <a:buFont typeface="+mj-lt"/>
              <a:buAutoNum type="arabicPeriod" startAt="5"/>
            </a:pPr>
            <a:r>
              <a:rPr lang="en-US" b="1" i="0" dirty="0">
                <a:effectLst/>
              </a:rPr>
              <a:t>Reports:</a:t>
            </a:r>
            <a:r>
              <a:rPr lang="en-US" b="0" i="0" dirty="0">
                <a:effectLst/>
              </a:rPr>
              <a:t> In this section admin, can view how much students has been register  in particular period.</a:t>
            </a:r>
          </a:p>
          <a:p>
            <a:pPr marL="457200" indent="-457200" algn="l" fontAlgn="base">
              <a:buFont typeface="+mj-lt"/>
              <a:buAutoNum type="arabicPeriod" startAt="5"/>
            </a:pPr>
            <a:r>
              <a:rPr lang="en-US" b="0" i="0" dirty="0">
                <a:effectLst/>
              </a:rPr>
              <a:t>Admin can also update his profile, change the password and recover the password.</a:t>
            </a:r>
          </a:p>
          <a:p>
            <a:pPr marL="457200" indent="-457200">
              <a:buFont typeface="+mj-lt"/>
              <a:buAutoNum type="arabicPeriod" startAt="5"/>
            </a:pPr>
            <a:endParaRPr lang="en-IN" dirty="0"/>
          </a:p>
        </p:txBody>
      </p:sp>
    </p:spTree>
    <p:extLst>
      <p:ext uri="{BB962C8B-B14F-4D97-AF65-F5344CB8AC3E}">
        <p14:creationId xmlns:p14="http://schemas.microsoft.com/office/powerpoint/2010/main" val="3563704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02E3-9F81-C684-0990-3F4A4A19F5EF}"/>
              </a:ext>
            </a:extLst>
          </p:cNvPr>
          <p:cNvSpPr>
            <a:spLocks noGrp="1"/>
          </p:cNvSpPr>
          <p:nvPr>
            <p:ph type="title"/>
          </p:nvPr>
        </p:nvSpPr>
        <p:spPr/>
        <p:txBody>
          <a:bodyPr>
            <a:normAutofit/>
          </a:bodyPr>
          <a:lstStyle/>
          <a:p>
            <a:r>
              <a:rPr lang="en-US" sz="2800" dirty="0"/>
              <a:t>Users (Students)</a:t>
            </a:r>
            <a:endParaRPr lang="en-IN" sz="2800" dirty="0"/>
          </a:p>
        </p:txBody>
      </p:sp>
      <p:sp>
        <p:nvSpPr>
          <p:cNvPr id="3" name="Content Placeholder 2">
            <a:extLst>
              <a:ext uri="{FF2B5EF4-FFF2-40B4-BE49-F238E27FC236}">
                <a16:creationId xmlns:a16="http://schemas.microsoft.com/office/drawing/2014/main" id="{8FE39640-8248-33CE-A72B-8A9B66475F6F}"/>
              </a:ext>
            </a:extLst>
          </p:cNvPr>
          <p:cNvSpPr>
            <a:spLocks noGrp="1"/>
          </p:cNvSpPr>
          <p:nvPr>
            <p:ph idx="1"/>
          </p:nvPr>
        </p:nvSpPr>
        <p:spPr/>
        <p:txBody>
          <a:bodyPr/>
          <a:lstStyle/>
          <a:p>
            <a:pPr algn="l" fontAlgn="base">
              <a:buFont typeface="+mj-lt"/>
              <a:buAutoNum type="arabicPeriod"/>
            </a:pPr>
            <a:r>
              <a:rPr lang="en-US" b="1" i="0" dirty="0">
                <a:effectLst/>
              </a:rPr>
              <a:t>Dashboard</a:t>
            </a:r>
            <a:r>
              <a:rPr lang="en-US" b="0" i="0" dirty="0">
                <a:effectLst/>
              </a:rPr>
              <a:t>: It is welcome page for students.</a:t>
            </a:r>
          </a:p>
          <a:p>
            <a:pPr algn="l" fontAlgn="base">
              <a:buFont typeface="+mj-lt"/>
              <a:buAutoNum type="arabicPeriod"/>
            </a:pPr>
            <a:r>
              <a:rPr lang="en-US" b="1" i="0" dirty="0">
                <a:effectLst/>
              </a:rPr>
              <a:t>View Notices</a:t>
            </a:r>
            <a:r>
              <a:rPr lang="en-US" b="0" i="0" dirty="0">
                <a:effectLst/>
              </a:rPr>
              <a:t>: In this section, user can view notices which are announced by administrator.</a:t>
            </a:r>
          </a:p>
          <a:p>
            <a:pPr algn="l" fontAlgn="base">
              <a:buFont typeface="+mj-lt"/>
              <a:buAutoNum type="arabicPeriod"/>
            </a:pPr>
            <a:r>
              <a:rPr lang="en-US" b="0" i="0" dirty="0">
                <a:effectLst/>
              </a:rPr>
              <a:t>Student can also view his profile, change the password and recover the password.</a:t>
            </a:r>
          </a:p>
          <a:p>
            <a:endParaRPr lang="en-IN" dirty="0"/>
          </a:p>
        </p:txBody>
      </p:sp>
    </p:spTree>
    <p:extLst>
      <p:ext uri="{BB962C8B-B14F-4D97-AF65-F5344CB8AC3E}">
        <p14:creationId xmlns:p14="http://schemas.microsoft.com/office/powerpoint/2010/main" val="4682175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39B0-802F-BAAA-2D1B-C1581F8E793C}"/>
              </a:ext>
            </a:extLst>
          </p:cNvPr>
          <p:cNvSpPr>
            <a:spLocks noGrp="1"/>
          </p:cNvSpPr>
          <p:nvPr>
            <p:ph type="title"/>
          </p:nvPr>
        </p:nvSpPr>
        <p:spPr/>
        <p:txBody>
          <a:bodyPr>
            <a:normAutofit/>
          </a:bodyPr>
          <a:lstStyle/>
          <a:p>
            <a:r>
              <a:rPr lang="en-US" sz="2800" dirty="0"/>
              <a:t>User (Non-Register)</a:t>
            </a:r>
            <a:endParaRPr lang="en-IN" sz="2800" dirty="0"/>
          </a:p>
        </p:txBody>
      </p:sp>
      <p:sp>
        <p:nvSpPr>
          <p:cNvPr id="3" name="Content Placeholder 2">
            <a:extLst>
              <a:ext uri="{FF2B5EF4-FFF2-40B4-BE49-F238E27FC236}">
                <a16:creationId xmlns:a16="http://schemas.microsoft.com/office/drawing/2014/main" id="{E51E2CEA-5E7F-315A-D205-02CB94D9A49E}"/>
              </a:ext>
            </a:extLst>
          </p:cNvPr>
          <p:cNvSpPr>
            <a:spLocks noGrp="1"/>
          </p:cNvSpPr>
          <p:nvPr>
            <p:ph idx="1"/>
          </p:nvPr>
        </p:nvSpPr>
        <p:spPr/>
        <p:txBody>
          <a:bodyPr/>
          <a:lstStyle/>
          <a:p>
            <a:pPr algn="l" fontAlgn="base">
              <a:buFont typeface="+mj-lt"/>
              <a:buAutoNum type="arabicPeriod"/>
            </a:pPr>
            <a:r>
              <a:rPr lang="en-US" b="1" i="0" dirty="0">
                <a:effectLst/>
              </a:rPr>
              <a:t>Home</a:t>
            </a:r>
            <a:r>
              <a:rPr lang="en-US" b="0" i="0" dirty="0">
                <a:effectLst/>
              </a:rPr>
              <a:t>: It is welcome page for user.</a:t>
            </a:r>
          </a:p>
          <a:p>
            <a:pPr algn="l" fontAlgn="base">
              <a:buFont typeface="+mj-lt"/>
              <a:buAutoNum type="arabicPeriod"/>
            </a:pPr>
            <a:r>
              <a:rPr lang="en-US" b="1" i="0" dirty="0">
                <a:effectLst/>
              </a:rPr>
              <a:t>About</a:t>
            </a:r>
            <a:r>
              <a:rPr lang="en-US" b="0" i="0" dirty="0">
                <a:effectLst/>
              </a:rPr>
              <a:t>: User can view about us page.</a:t>
            </a:r>
          </a:p>
          <a:p>
            <a:pPr algn="l" fontAlgn="base">
              <a:buFont typeface="+mj-lt"/>
              <a:buAutoNum type="arabicPeriod"/>
            </a:pPr>
            <a:r>
              <a:rPr lang="en-US" b="1" i="0" dirty="0">
                <a:effectLst/>
              </a:rPr>
              <a:t>Contact: </a:t>
            </a:r>
            <a:r>
              <a:rPr lang="en-US" b="0" i="0" dirty="0">
                <a:effectLst/>
              </a:rPr>
              <a:t>User can view contact us page.</a:t>
            </a:r>
          </a:p>
          <a:p>
            <a:pPr marL="0" indent="0">
              <a:buNone/>
            </a:pPr>
            <a:endParaRPr lang="en-IN" dirty="0"/>
          </a:p>
        </p:txBody>
      </p:sp>
    </p:spTree>
    <p:extLst>
      <p:ext uri="{BB962C8B-B14F-4D97-AF65-F5344CB8AC3E}">
        <p14:creationId xmlns:p14="http://schemas.microsoft.com/office/powerpoint/2010/main" val="4000839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F4882-41F4-ED38-3FDC-E1247C3809E0}"/>
              </a:ext>
            </a:extLst>
          </p:cNvPr>
          <p:cNvSpPr>
            <a:spLocks noGrp="1"/>
          </p:cNvSpPr>
          <p:nvPr>
            <p:ph type="title"/>
          </p:nvPr>
        </p:nvSpPr>
        <p:spPr/>
        <p:txBody>
          <a:bodyPr/>
          <a:lstStyle/>
          <a:p>
            <a:r>
              <a:rPr lang="en-US" dirty="0"/>
              <a:t>Features of Student Management System</a:t>
            </a:r>
            <a:endParaRPr lang="en-IN" dirty="0"/>
          </a:p>
        </p:txBody>
      </p:sp>
      <p:sp>
        <p:nvSpPr>
          <p:cNvPr id="3" name="Content Placeholder 2">
            <a:extLst>
              <a:ext uri="{FF2B5EF4-FFF2-40B4-BE49-F238E27FC236}">
                <a16:creationId xmlns:a16="http://schemas.microsoft.com/office/drawing/2014/main" id="{074D36F9-0A5A-854A-213B-D7493DBA1CAC}"/>
              </a:ext>
            </a:extLst>
          </p:cNvPr>
          <p:cNvSpPr>
            <a:spLocks noGrp="1"/>
          </p:cNvSpPr>
          <p:nvPr>
            <p:ph idx="1"/>
          </p:nvPr>
        </p:nvSpPr>
        <p:spPr/>
        <p:txBody>
          <a:bodyPr/>
          <a:lstStyle/>
          <a:p>
            <a:r>
              <a:rPr lang="en-US" dirty="0"/>
              <a:t>The SMS offers a wide range of features to help educational institutions streamline their operations. One of the key features of the system is the ability to manage student records, including personal information, academic history, and attendance records.</a:t>
            </a:r>
          </a:p>
          <a:p>
            <a:r>
              <a:rPr lang="en-US" dirty="0"/>
              <a:t>Other features include automated grading systems, class scheduling, and online registration. The system also provides real-time reporting, allowing administrators to monitor student progress and identify areas that need improvement.</a:t>
            </a:r>
          </a:p>
          <a:p>
            <a:endParaRPr lang="en-IN" dirty="0"/>
          </a:p>
        </p:txBody>
      </p:sp>
    </p:spTree>
    <p:extLst>
      <p:ext uri="{BB962C8B-B14F-4D97-AF65-F5344CB8AC3E}">
        <p14:creationId xmlns:p14="http://schemas.microsoft.com/office/powerpoint/2010/main" val="1404482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606A5-A6F0-4F1D-A398-BDE54458E39F}"/>
              </a:ext>
            </a:extLst>
          </p:cNvPr>
          <p:cNvSpPr>
            <a:spLocks noGrp="1"/>
          </p:cNvSpPr>
          <p:nvPr>
            <p:ph type="title"/>
          </p:nvPr>
        </p:nvSpPr>
        <p:spPr/>
        <p:txBody>
          <a:bodyPr>
            <a:normAutofit/>
          </a:bodyPr>
          <a:lstStyle/>
          <a:p>
            <a:r>
              <a:rPr lang="en-US" sz="3500" dirty="0"/>
              <a:t>Benefits of Using Student Management System</a:t>
            </a:r>
            <a:endParaRPr lang="en-IN" sz="3500" dirty="0"/>
          </a:p>
        </p:txBody>
      </p:sp>
      <p:sp>
        <p:nvSpPr>
          <p:cNvPr id="3" name="Content Placeholder 2">
            <a:extLst>
              <a:ext uri="{FF2B5EF4-FFF2-40B4-BE49-F238E27FC236}">
                <a16:creationId xmlns:a16="http://schemas.microsoft.com/office/drawing/2014/main" id="{9E5A86B2-EA24-ED8F-3EB9-485D9C9B8765}"/>
              </a:ext>
            </a:extLst>
          </p:cNvPr>
          <p:cNvSpPr>
            <a:spLocks noGrp="1"/>
          </p:cNvSpPr>
          <p:nvPr>
            <p:ph idx="1"/>
          </p:nvPr>
        </p:nvSpPr>
        <p:spPr/>
        <p:txBody>
          <a:bodyPr>
            <a:normAutofit lnSpcReduction="10000"/>
          </a:bodyPr>
          <a:lstStyle/>
          <a:p>
            <a:r>
              <a:rPr lang="en-US" dirty="0"/>
              <a:t>The SMS offers several benefits to educational institutions, including increased efficiency, improved communication, and better decision-making. By automating many of the administrative tasks, the system frees up time for teachers and administrators to focus on other important tasks.</a:t>
            </a:r>
          </a:p>
          <a:p>
            <a:r>
              <a:rPr lang="en-US" dirty="0"/>
              <a:t>Additionally, the SMS provides a centralized platform for communication between teachers, students, and parents. This improves transparency and reduces the likelihood of miscommunication. Finally, the system provides valuable insights into student performance, allowing educators to make data-driven decisions about curriculum and instruction.</a:t>
            </a:r>
          </a:p>
          <a:p>
            <a:endParaRPr lang="en-IN" dirty="0"/>
          </a:p>
        </p:txBody>
      </p:sp>
    </p:spTree>
    <p:extLst>
      <p:ext uri="{BB962C8B-B14F-4D97-AF65-F5344CB8AC3E}">
        <p14:creationId xmlns:p14="http://schemas.microsoft.com/office/powerpoint/2010/main" val="210427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6C541-D043-E98D-609F-FCE1225732AA}"/>
              </a:ext>
            </a:extLst>
          </p:cNvPr>
          <p:cNvSpPr>
            <a:spLocks noGrp="1"/>
          </p:cNvSpPr>
          <p:nvPr>
            <p:ph type="title"/>
          </p:nvPr>
        </p:nvSpPr>
        <p:spPr/>
        <p:txBody>
          <a:bodyPr/>
          <a:lstStyle/>
          <a:p>
            <a:r>
              <a:rPr lang="en-IN" dirty="0"/>
              <a:t>Challenges in Implementing Student Management System</a:t>
            </a:r>
          </a:p>
        </p:txBody>
      </p:sp>
      <p:sp>
        <p:nvSpPr>
          <p:cNvPr id="3" name="Content Placeholder 2">
            <a:extLst>
              <a:ext uri="{FF2B5EF4-FFF2-40B4-BE49-F238E27FC236}">
                <a16:creationId xmlns:a16="http://schemas.microsoft.com/office/drawing/2014/main" id="{71E6BD88-60E1-FE73-5600-A07091B867C3}"/>
              </a:ext>
            </a:extLst>
          </p:cNvPr>
          <p:cNvSpPr>
            <a:spLocks noGrp="1"/>
          </p:cNvSpPr>
          <p:nvPr>
            <p:ph idx="1"/>
          </p:nvPr>
        </p:nvSpPr>
        <p:spPr/>
        <p:txBody>
          <a:bodyPr/>
          <a:lstStyle/>
          <a:p>
            <a:r>
              <a:rPr lang="en-US" dirty="0"/>
              <a:t>Implementing a student management system can be a complex process that requires careful planning and execution. One of the main challenges is ensuring that the system integrates seamlessly with existing infrastructure, such as learning management systems and student information systems.</a:t>
            </a:r>
          </a:p>
          <a:p>
            <a:r>
              <a:rPr lang="en-US" dirty="0"/>
              <a:t>Another challenge is ensuring that the system is user-friendly and accessible to all stakeholders, including teachers, administrators, students, and parents. Finally, ensuring data privacy and security is also a critical concern, given the sensitive nature of student information.</a:t>
            </a:r>
          </a:p>
          <a:p>
            <a:endParaRPr lang="en-IN" dirty="0"/>
          </a:p>
        </p:txBody>
      </p:sp>
    </p:spTree>
    <p:extLst>
      <p:ext uri="{BB962C8B-B14F-4D97-AF65-F5344CB8AC3E}">
        <p14:creationId xmlns:p14="http://schemas.microsoft.com/office/powerpoint/2010/main" val="2698786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8F50E-42FA-074F-0D8B-A20497DAB5A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EDCD52C-847A-6608-ED59-7239740A558A}"/>
              </a:ext>
            </a:extLst>
          </p:cNvPr>
          <p:cNvSpPr>
            <a:spLocks noGrp="1"/>
          </p:cNvSpPr>
          <p:nvPr>
            <p:ph idx="1"/>
          </p:nvPr>
        </p:nvSpPr>
        <p:spPr/>
        <p:txBody>
          <a:bodyPr/>
          <a:lstStyle/>
          <a:p>
            <a:r>
              <a:rPr lang="en-US" dirty="0"/>
              <a:t>In conclusion, the Student Management System is a powerful tool for educational institutions to manage their student-related data efficiently. By automating many of the administrative tasks and providing real-time reporting, the system can help improve efficiency, communication, and decision-making.</a:t>
            </a:r>
          </a:p>
          <a:p>
            <a:r>
              <a:rPr lang="en-US" dirty="0"/>
              <a:t>However, implementing the system can be a complex process that requires careful planning and execution. By following best practices and addressing the challenges involved, educational institutions can ensure a successful implementation and maximize the benefits of the SMS.</a:t>
            </a:r>
          </a:p>
          <a:p>
            <a:endParaRPr lang="en-IN" dirty="0"/>
          </a:p>
        </p:txBody>
      </p:sp>
    </p:spTree>
    <p:extLst>
      <p:ext uri="{BB962C8B-B14F-4D97-AF65-F5344CB8AC3E}">
        <p14:creationId xmlns:p14="http://schemas.microsoft.com/office/powerpoint/2010/main" val="3154008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107</TotalTime>
  <Words>927</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Trebuchet MS</vt:lpstr>
      <vt:lpstr>Berlin</vt:lpstr>
      <vt:lpstr>Student Management System</vt:lpstr>
      <vt:lpstr>Introduction</vt:lpstr>
      <vt:lpstr>Project Requirements</vt:lpstr>
      <vt:lpstr>Problem Statement</vt:lpstr>
      <vt:lpstr>Flowchart</vt:lpstr>
      <vt:lpstr>Project Modules</vt:lpstr>
      <vt:lpstr>Admin</vt:lpstr>
      <vt:lpstr>PowerPoint Presentation</vt:lpstr>
      <vt:lpstr>Users (Students)</vt:lpstr>
      <vt:lpstr>User (Non-Register)</vt:lpstr>
      <vt:lpstr>Features of Student Management System</vt:lpstr>
      <vt:lpstr>Benefits of Using Student Management System</vt:lpstr>
      <vt:lpstr>Challenges in Implementing Student Management System</vt:lpstr>
      <vt:lpstr>Conclusion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dc:title>
  <dc:creator>Vivek Belagali</dc:creator>
  <cp:lastModifiedBy>jasraj singh</cp:lastModifiedBy>
  <cp:revision>7</cp:revision>
  <dcterms:created xsi:type="dcterms:W3CDTF">2023-04-11T05:44:06Z</dcterms:created>
  <dcterms:modified xsi:type="dcterms:W3CDTF">2023-04-18T06:33:15Z</dcterms:modified>
</cp:coreProperties>
</file>