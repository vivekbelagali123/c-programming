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6" r:id="rId8"/>
    <p:sldId id="262" r:id="rId9"/>
    <p:sldId id="267" r:id="rId10"/>
    <p:sldId id="268" r:id="rId11"/>
    <p:sldId id="271" r:id="rId12"/>
    <p:sldId id="272" r:id="rId13"/>
    <p:sldId id="273" r:id="rId14"/>
    <p:sldId id="276" r:id="rId15"/>
    <p:sldId id="263" r:id="rId16"/>
    <p:sldId id="269" r:id="rId17"/>
    <p:sldId id="270" r:id="rId18"/>
    <p:sldId id="275" r:id="rId19"/>
    <p:sldId id="26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p:scale>
          <a:sx n="83" d="100"/>
          <a:sy n="83" d="100"/>
        </p:scale>
        <p:origin x="686"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vek Belagali" userId="24ecea078f6989c0" providerId="LiveId" clId="{60584E4A-3A41-49C5-81DE-D086B84434CD}"/>
    <pc:docChg chg="custSel addSld delSld modSld">
      <pc:chgData name="Vivek Belagali" userId="24ecea078f6989c0" providerId="LiveId" clId="{60584E4A-3A41-49C5-81DE-D086B84434CD}" dt="2022-12-07T16:45:38.560" v="132" actId="2711"/>
      <pc:docMkLst>
        <pc:docMk/>
      </pc:docMkLst>
      <pc:sldChg chg="addSp delSp modSp new mod">
        <pc:chgData name="Vivek Belagali" userId="24ecea078f6989c0" providerId="LiveId" clId="{60584E4A-3A41-49C5-81DE-D086B84434CD}" dt="2022-12-07T16:41:43.884" v="108" actId="1076"/>
        <pc:sldMkLst>
          <pc:docMk/>
          <pc:sldMk cId="504604725" sldId="272"/>
        </pc:sldMkLst>
        <pc:picChg chg="add del mod">
          <ac:chgData name="Vivek Belagali" userId="24ecea078f6989c0" providerId="LiveId" clId="{60584E4A-3A41-49C5-81DE-D086B84434CD}" dt="2022-12-07T16:37:31.161" v="98" actId="478"/>
          <ac:picMkLst>
            <pc:docMk/>
            <pc:sldMk cId="504604725" sldId="272"/>
            <ac:picMk id="3" creationId="{9DF5B8A4-91F8-4A78-9BDC-A769F7FADEBA}"/>
          </ac:picMkLst>
        </pc:picChg>
        <pc:picChg chg="add mod">
          <ac:chgData name="Vivek Belagali" userId="24ecea078f6989c0" providerId="LiveId" clId="{60584E4A-3A41-49C5-81DE-D086B84434CD}" dt="2022-12-07T16:41:43.884" v="108" actId="1076"/>
          <ac:picMkLst>
            <pc:docMk/>
            <pc:sldMk cId="504604725" sldId="272"/>
            <ac:picMk id="5" creationId="{9E0B0848-5C0C-463A-93B3-F0C767729169}"/>
          </ac:picMkLst>
        </pc:picChg>
      </pc:sldChg>
      <pc:sldChg chg="new del">
        <pc:chgData name="Vivek Belagali" userId="24ecea078f6989c0" providerId="LiveId" clId="{60584E4A-3A41-49C5-81DE-D086B84434CD}" dt="2022-12-07T16:21:50.451" v="1" actId="47"/>
        <pc:sldMkLst>
          <pc:docMk/>
          <pc:sldMk cId="2886474638" sldId="272"/>
        </pc:sldMkLst>
      </pc:sldChg>
      <pc:sldChg chg="new del">
        <pc:chgData name="Vivek Belagali" userId="24ecea078f6989c0" providerId="LiveId" clId="{60584E4A-3A41-49C5-81DE-D086B84434CD}" dt="2022-12-07T16:22:10.062" v="3" actId="47"/>
        <pc:sldMkLst>
          <pc:docMk/>
          <pc:sldMk cId="2928512046" sldId="272"/>
        </pc:sldMkLst>
      </pc:sldChg>
      <pc:sldChg chg="addSp delSp modSp new mod">
        <pc:chgData name="Vivek Belagali" userId="24ecea078f6989c0" providerId="LiveId" clId="{60584E4A-3A41-49C5-81DE-D086B84434CD}" dt="2022-12-07T16:42:52.268" v="117" actId="1076"/>
        <pc:sldMkLst>
          <pc:docMk/>
          <pc:sldMk cId="2853101263" sldId="273"/>
        </pc:sldMkLst>
        <pc:picChg chg="add del mod">
          <ac:chgData name="Vivek Belagali" userId="24ecea078f6989c0" providerId="LiveId" clId="{60584E4A-3A41-49C5-81DE-D086B84434CD}" dt="2022-12-07T16:38:04.781" v="100" actId="478"/>
          <ac:picMkLst>
            <pc:docMk/>
            <pc:sldMk cId="2853101263" sldId="273"/>
            <ac:picMk id="3" creationId="{5E83E683-A896-4249-8CDF-976860FC9ABD}"/>
          </ac:picMkLst>
        </pc:picChg>
        <pc:picChg chg="add mod">
          <ac:chgData name="Vivek Belagali" userId="24ecea078f6989c0" providerId="LiveId" clId="{60584E4A-3A41-49C5-81DE-D086B84434CD}" dt="2022-12-07T16:42:52.268" v="117" actId="1076"/>
          <ac:picMkLst>
            <pc:docMk/>
            <pc:sldMk cId="2853101263" sldId="273"/>
            <ac:picMk id="5" creationId="{DE5893A9-7158-4415-A9AD-23A5F2971AD6}"/>
          </ac:picMkLst>
        </pc:picChg>
      </pc:sldChg>
      <pc:sldChg chg="addSp modSp new del mod">
        <pc:chgData name="Vivek Belagali" userId="24ecea078f6989c0" providerId="LiveId" clId="{60584E4A-3A41-49C5-81DE-D086B84434CD}" dt="2022-12-07T16:38:09.113" v="101" actId="47"/>
        <pc:sldMkLst>
          <pc:docMk/>
          <pc:sldMk cId="3261961798" sldId="274"/>
        </pc:sldMkLst>
        <pc:picChg chg="add mod">
          <ac:chgData name="Vivek Belagali" userId="24ecea078f6989c0" providerId="LiveId" clId="{60584E4A-3A41-49C5-81DE-D086B84434CD}" dt="2022-12-07T16:26:03.437" v="16" actId="14100"/>
          <ac:picMkLst>
            <pc:docMk/>
            <pc:sldMk cId="3261961798" sldId="274"/>
            <ac:picMk id="3" creationId="{B633F40D-9CAA-4815-B2C4-B9015F0C8E04}"/>
          </ac:picMkLst>
        </pc:picChg>
      </pc:sldChg>
      <pc:sldChg chg="addSp modSp new mod">
        <pc:chgData name="Vivek Belagali" userId="24ecea078f6989c0" providerId="LiveId" clId="{60584E4A-3A41-49C5-81DE-D086B84434CD}" dt="2022-12-07T16:45:38.560" v="132" actId="2711"/>
        <pc:sldMkLst>
          <pc:docMk/>
          <pc:sldMk cId="1501436323" sldId="275"/>
        </pc:sldMkLst>
        <pc:spChg chg="add mod">
          <ac:chgData name="Vivek Belagali" userId="24ecea078f6989c0" providerId="LiveId" clId="{60584E4A-3A41-49C5-81DE-D086B84434CD}" dt="2022-12-07T16:43:58.551" v="122" actId="20577"/>
          <ac:spMkLst>
            <pc:docMk/>
            <pc:sldMk cId="1501436323" sldId="275"/>
            <ac:spMk id="2" creationId="{9D5199F6-320E-4620-80C9-F9659003863E}"/>
          </ac:spMkLst>
        </pc:spChg>
        <pc:spChg chg="add mod">
          <ac:chgData name="Vivek Belagali" userId="24ecea078f6989c0" providerId="LiveId" clId="{60584E4A-3A41-49C5-81DE-D086B84434CD}" dt="2022-12-07T16:45:38.560" v="132" actId="2711"/>
          <ac:spMkLst>
            <pc:docMk/>
            <pc:sldMk cId="1501436323" sldId="275"/>
            <ac:spMk id="3" creationId="{1506F6E8-AF48-4BFA-AF50-3DB116B08F45}"/>
          </ac:spMkLst>
        </pc:spChg>
      </pc:sldChg>
      <pc:sldChg chg="addSp modSp new mod">
        <pc:chgData name="Vivek Belagali" userId="24ecea078f6989c0" providerId="LiveId" clId="{60584E4A-3A41-49C5-81DE-D086B84434CD}" dt="2022-12-07T16:43:04.818" v="119" actId="14100"/>
        <pc:sldMkLst>
          <pc:docMk/>
          <pc:sldMk cId="4161246268" sldId="276"/>
        </pc:sldMkLst>
        <pc:picChg chg="add mod">
          <ac:chgData name="Vivek Belagali" userId="24ecea078f6989c0" providerId="LiveId" clId="{60584E4A-3A41-49C5-81DE-D086B84434CD}" dt="2022-12-07T16:43:04.818" v="119" actId="14100"/>
          <ac:picMkLst>
            <pc:docMk/>
            <pc:sldMk cId="4161246268" sldId="276"/>
            <ac:picMk id="3" creationId="{2A0FBCA3-7FA6-4679-86AA-A985FB3EE519}"/>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12/7/2022</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12/7/2022</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2D2AC3E-A4C3-AC33-9EF1-817BF4A027EA}"/>
              </a:ext>
            </a:extLst>
          </p:cNvPr>
          <p:cNvSpPr txBox="1"/>
          <p:nvPr/>
        </p:nvSpPr>
        <p:spPr>
          <a:xfrm>
            <a:off x="2973588" y="1019715"/>
            <a:ext cx="6093822" cy="615553"/>
          </a:xfrm>
          <a:prstGeom prst="rect">
            <a:avLst/>
          </a:prstGeom>
          <a:noFill/>
        </p:spPr>
        <p:txBody>
          <a:bodyPr wrap="square">
            <a:spAutoFit/>
          </a:bodyPr>
          <a:lstStyle/>
          <a:p>
            <a:pPr algn="ctr" eaLnBrk="1" hangingPunct="1">
              <a:defRPr/>
            </a:pPr>
            <a:r>
              <a:rPr lang="en-US" altLang="en-US" sz="1800" b="1" dirty="0">
                <a:solidFill>
                  <a:srgbClr val="FFFF00"/>
                </a:solidFill>
                <a:latin typeface="Cambria,Bold"/>
              </a:rPr>
              <a:t>DAYANANDA SAGAR UNIVERSITY</a:t>
            </a:r>
          </a:p>
          <a:p>
            <a:pPr algn="ctr" eaLnBrk="1" hangingPunct="1">
              <a:spcAft>
                <a:spcPts val="600"/>
              </a:spcAft>
              <a:defRPr/>
            </a:pPr>
            <a:r>
              <a:rPr lang="en-IN" sz="1600" b="1" dirty="0">
                <a:solidFill>
                  <a:srgbClr val="FFFF00"/>
                </a:solidFill>
                <a:latin typeface="Cambria,Bold"/>
              </a:rPr>
              <a:t>SCHOOL OF ENGINEERING</a:t>
            </a:r>
            <a:endParaRPr lang="en-US" altLang="en-US" dirty="0">
              <a:solidFill>
                <a:srgbClr val="FFFF00"/>
              </a:solidFill>
            </a:endParaRPr>
          </a:p>
        </p:txBody>
      </p:sp>
      <p:sp>
        <p:nvSpPr>
          <p:cNvPr id="12" name="TextBox 11">
            <a:extLst>
              <a:ext uri="{FF2B5EF4-FFF2-40B4-BE49-F238E27FC236}">
                <a16:creationId xmlns:a16="http://schemas.microsoft.com/office/drawing/2014/main" id="{EEA1F273-A5CC-8E11-5705-E5E26A40CA1C}"/>
              </a:ext>
            </a:extLst>
          </p:cNvPr>
          <p:cNvSpPr txBox="1"/>
          <p:nvPr/>
        </p:nvSpPr>
        <p:spPr>
          <a:xfrm>
            <a:off x="2973588" y="1686096"/>
            <a:ext cx="6093822" cy="369332"/>
          </a:xfrm>
          <a:prstGeom prst="rect">
            <a:avLst/>
          </a:prstGeom>
          <a:noFill/>
        </p:spPr>
        <p:txBody>
          <a:bodyPr wrap="square">
            <a:spAutoFit/>
          </a:bodyPr>
          <a:lstStyle/>
          <a:p>
            <a:pPr algn="ctr" eaLnBrk="1" hangingPunct="1">
              <a:spcBef>
                <a:spcPct val="0"/>
              </a:spcBef>
              <a:buClrTx/>
              <a:buFontTx/>
              <a:buNone/>
            </a:pPr>
            <a:r>
              <a:rPr lang="en-IN" altLang="en-US" sz="1800" b="1" dirty="0">
                <a:latin typeface="Calibri" panose="020F0502020204030204" pitchFamily="34" charset="0"/>
                <a:cs typeface="Calibri" panose="020F0502020204030204" pitchFamily="34" charset="0"/>
              </a:rPr>
              <a:t>Special Topic-II Review 1</a:t>
            </a:r>
          </a:p>
        </p:txBody>
      </p:sp>
      <p:sp>
        <p:nvSpPr>
          <p:cNvPr id="14" name="TextBox 13">
            <a:extLst>
              <a:ext uri="{FF2B5EF4-FFF2-40B4-BE49-F238E27FC236}">
                <a16:creationId xmlns:a16="http://schemas.microsoft.com/office/drawing/2014/main" id="{9F1E8EBF-4AF0-17F6-9C8B-EDA85723A4A6}"/>
              </a:ext>
            </a:extLst>
          </p:cNvPr>
          <p:cNvSpPr txBox="1"/>
          <p:nvPr/>
        </p:nvSpPr>
        <p:spPr>
          <a:xfrm>
            <a:off x="2973588" y="3772373"/>
            <a:ext cx="6093822" cy="646331"/>
          </a:xfrm>
          <a:prstGeom prst="rect">
            <a:avLst/>
          </a:prstGeom>
          <a:noFill/>
        </p:spPr>
        <p:txBody>
          <a:bodyPr wrap="square">
            <a:spAutoFit/>
          </a:bodyPr>
          <a:lstStyle/>
          <a:p>
            <a:pPr algn="ctr" eaLnBrk="1" hangingPunct="1">
              <a:spcBef>
                <a:spcPct val="0"/>
              </a:spcBef>
              <a:buClrTx/>
              <a:buFontTx/>
              <a:buNone/>
            </a:pPr>
            <a:r>
              <a:rPr lang="en-IN" altLang="en-US" sz="1800" dirty="0">
                <a:latin typeface="Calibri" panose="020F0502020204030204" pitchFamily="34" charset="0"/>
                <a:cs typeface="Calibri" panose="020F0502020204030204" pitchFamily="34" charset="0"/>
              </a:rPr>
              <a:t>Under the Supervision of</a:t>
            </a:r>
          </a:p>
          <a:p>
            <a:pPr algn="ctr" eaLnBrk="1" hangingPunct="1">
              <a:spcBef>
                <a:spcPct val="0"/>
              </a:spcBef>
              <a:buClrTx/>
              <a:buFontTx/>
              <a:buNone/>
            </a:pPr>
            <a:r>
              <a:rPr lang="en-IN" altLang="en-US" sz="1800" b="1" dirty="0">
                <a:latin typeface="Calibri" panose="020F0502020204030204" pitchFamily="34" charset="0"/>
                <a:cs typeface="Calibri" panose="020F0502020204030204" pitchFamily="34" charset="0"/>
              </a:rPr>
              <a:t> </a:t>
            </a:r>
            <a:r>
              <a:rPr lang="en-IN" dirty="0"/>
              <a:t> </a:t>
            </a:r>
            <a:r>
              <a:rPr lang="en-IN" b="1" dirty="0"/>
              <a:t> </a:t>
            </a:r>
            <a:r>
              <a:rPr lang="en-IN" b="1" dirty="0" err="1"/>
              <a:t>Dr.</a:t>
            </a:r>
            <a:r>
              <a:rPr lang="en-IN" b="1" dirty="0"/>
              <a:t> </a:t>
            </a:r>
            <a:r>
              <a:rPr lang="en-IN" b="1" dirty="0" err="1"/>
              <a:t>Bondu</a:t>
            </a:r>
            <a:r>
              <a:rPr lang="en-IN" b="1" dirty="0"/>
              <a:t> </a:t>
            </a:r>
            <a:r>
              <a:rPr lang="en-IN" b="1" dirty="0" err="1"/>
              <a:t>Venkateswarlu</a:t>
            </a:r>
            <a:endParaRPr lang="en-IN" altLang="en-US" sz="1800" b="1"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40F85719-DEF6-75E0-E0AB-28E2ED530CE1}"/>
              </a:ext>
            </a:extLst>
          </p:cNvPr>
          <p:cNvSpPr txBox="1"/>
          <p:nvPr/>
        </p:nvSpPr>
        <p:spPr>
          <a:xfrm>
            <a:off x="3049089" y="2234569"/>
            <a:ext cx="6093822" cy="1323439"/>
          </a:xfrm>
          <a:prstGeom prst="rect">
            <a:avLst/>
          </a:prstGeom>
          <a:noFill/>
        </p:spPr>
        <p:txBody>
          <a:bodyPr wrap="square">
            <a:spAutoFit/>
          </a:bodyPr>
          <a:lstStyle/>
          <a:p>
            <a:pPr algn="ctr" eaLnBrk="1" hangingPunct="1"/>
            <a:r>
              <a:rPr lang="en-US" altLang="en-US" sz="4000" b="1" dirty="0">
                <a:latin typeface="Calibri" panose="020F0502020204030204" pitchFamily="34" charset="0"/>
                <a:cs typeface="Calibri" panose="020F0502020204030204" pitchFamily="34" charset="0"/>
              </a:rPr>
              <a:t>HOUSE PRICE PREDICTION </a:t>
            </a:r>
          </a:p>
          <a:p>
            <a:pPr algn="ctr" eaLnBrk="1" hangingPunct="1"/>
            <a:r>
              <a:rPr lang="en-US" altLang="en-US" sz="4000" b="1" dirty="0">
                <a:latin typeface="Calibri" panose="020F0502020204030204" pitchFamily="34" charset="0"/>
                <a:cs typeface="Calibri" panose="020F0502020204030204" pitchFamily="34" charset="0"/>
              </a:rPr>
              <a:t>USING MACHINE LEARNING </a:t>
            </a:r>
          </a:p>
        </p:txBody>
      </p:sp>
      <p:sp>
        <p:nvSpPr>
          <p:cNvPr id="18" name="TextBox 17">
            <a:extLst>
              <a:ext uri="{FF2B5EF4-FFF2-40B4-BE49-F238E27FC236}">
                <a16:creationId xmlns:a16="http://schemas.microsoft.com/office/drawing/2014/main" id="{9D0C99C6-9637-DB89-D0DA-63AC77DCF94C}"/>
              </a:ext>
            </a:extLst>
          </p:cNvPr>
          <p:cNvSpPr txBox="1"/>
          <p:nvPr/>
        </p:nvSpPr>
        <p:spPr>
          <a:xfrm>
            <a:off x="3181614" y="4633069"/>
            <a:ext cx="6093822" cy="1477328"/>
          </a:xfrm>
          <a:prstGeom prst="rect">
            <a:avLst/>
          </a:prstGeom>
          <a:noFill/>
        </p:spPr>
        <p:txBody>
          <a:bodyPr wrap="square">
            <a:spAutoFit/>
          </a:bodyPr>
          <a:lstStyle/>
          <a:p>
            <a:pPr algn="ctr" eaLnBrk="1" hangingPunct="1">
              <a:spcBef>
                <a:spcPct val="0"/>
              </a:spcBef>
              <a:buClrTx/>
              <a:buFontTx/>
              <a:buNone/>
            </a:pPr>
            <a:r>
              <a:rPr lang="en-IN" altLang="en-US" sz="1800" b="1" dirty="0">
                <a:solidFill>
                  <a:schemeClr val="tx1"/>
                </a:solidFill>
                <a:latin typeface="Arial" panose="020B0604020202020204" pitchFamily="34" charset="0"/>
              </a:rPr>
              <a:t>Presented By:</a:t>
            </a:r>
          </a:p>
          <a:p>
            <a:pPr algn="ctr" eaLnBrk="1" hangingPunct="1">
              <a:spcBef>
                <a:spcPct val="0"/>
              </a:spcBef>
              <a:buClrTx/>
              <a:buFontTx/>
              <a:buNone/>
            </a:pPr>
            <a:r>
              <a:rPr lang="en-IN" altLang="en-US" b="1" dirty="0">
                <a:latin typeface="Arial" panose="020B0604020202020204" pitchFamily="34" charset="0"/>
              </a:rPr>
              <a:t>Daniel Thomas</a:t>
            </a:r>
            <a:r>
              <a:rPr lang="en-IN" altLang="en-US" sz="1800" b="1" dirty="0">
                <a:solidFill>
                  <a:schemeClr val="tx1"/>
                </a:solidFill>
                <a:latin typeface="Arial" panose="020B0604020202020204" pitchFamily="34" charset="0"/>
              </a:rPr>
              <a:t>(ENG20CS)</a:t>
            </a:r>
          </a:p>
          <a:p>
            <a:pPr algn="ctr" eaLnBrk="1" hangingPunct="1">
              <a:spcBef>
                <a:spcPct val="0"/>
              </a:spcBef>
              <a:buClrTx/>
              <a:buFontTx/>
              <a:buNone/>
            </a:pPr>
            <a:r>
              <a:rPr lang="en-IN" altLang="en-US" sz="1800" b="1" dirty="0">
                <a:solidFill>
                  <a:schemeClr val="tx1"/>
                </a:solidFill>
                <a:latin typeface="Arial" panose="020B0604020202020204" pitchFamily="34" charset="0"/>
              </a:rPr>
              <a:t>Darshan S(ENG20CS)</a:t>
            </a:r>
          </a:p>
          <a:p>
            <a:pPr algn="ctr" eaLnBrk="1" hangingPunct="1">
              <a:spcBef>
                <a:spcPct val="0"/>
              </a:spcBef>
              <a:buClrTx/>
              <a:buFontTx/>
              <a:buNone/>
            </a:pPr>
            <a:r>
              <a:rPr lang="en-IN" altLang="en-US" b="1" dirty="0">
                <a:latin typeface="Arial" panose="020B0604020202020204" pitchFamily="34" charset="0"/>
              </a:rPr>
              <a:t>Vivek Belagali</a:t>
            </a:r>
            <a:r>
              <a:rPr lang="en-IN" altLang="en-US" sz="1800" b="1" dirty="0">
                <a:solidFill>
                  <a:schemeClr val="tx1"/>
                </a:solidFill>
                <a:latin typeface="Arial" panose="020B0604020202020204" pitchFamily="34" charset="0"/>
              </a:rPr>
              <a:t> (ENG20CS0414)</a:t>
            </a:r>
          </a:p>
          <a:p>
            <a:pPr algn="ctr" eaLnBrk="1" hangingPunct="1">
              <a:spcBef>
                <a:spcPct val="0"/>
              </a:spcBef>
              <a:buClrTx/>
              <a:buFontTx/>
              <a:buNone/>
            </a:pPr>
            <a:r>
              <a:rPr lang="en-IN" altLang="en-US" b="1" dirty="0" err="1">
                <a:latin typeface="Arial" panose="020B0604020202020204" pitchFamily="34" charset="0"/>
              </a:rPr>
              <a:t>Vishwanth</a:t>
            </a:r>
            <a:r>
              <a:rPr lang="en-IN" altLang="en-US" b="1" dirty="0">
                <a:latin typeface="Arial" panose="020B0604020202020204" pitchFamily="34" charset="0"/>
              </a:rPr>
              <a:t> Reddy</a:t>
            </a:r>
            <a:r>
              <a:rPr lang="en-IN" altLang="en-US" sz="1800" b="1" dirty="0">
                <a:solidFill>
                  <a:schemeClr val="tx1"/>
                </a:solidFill>
                <a:latin typeface="Arial" panose="020B0604020202020204" pitchFamily="34" charset="0"/>
              </a:rPr>
              <a:t>(ENG20CS)</a:t>
            </a:r>
            <a:endParaRPr lang="en-IN" dirty="0"/>
          </a:p>
        </p:txBody>
      </p:sp>
      <p:pic>
        <p:nvPicPr>
          <p:cNvPr id="19" name="Picture 2">
            <a:extLst>
              <a:ext uri="{FF2B5EF4-FFF2-40B4-BE49-F238E27FC236}">
                <a16:creationId xmlns:a16="http://schemas.microsoft.com/office/drawing/2014/main" id="{1D00943F-2D95-932F-3E1F-5192894EF9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6945" y="891763"/>
            <a:ext cx="1284288" cy="111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120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8068B-CBA6-7CD7-D63A-96909ED4B783}"/>
              </a:ext>
            </a:extLst>
          </p:cNvPr>
          <p:cNvSpPr>
            <a:spLocks noGrp="1"/>
          </p:cNvSpPr>
          <p:nvPr>
            <p:ph type="title"/>
          </p:nvPr>
        </p:nvSpPr>
        <p:spPr/>
        <p:txBody>
          <a:bodyPr/>
          <a:lstStyle/>
          <a:p>
            <a:r>
              <a:rPr lang="en-IN" altLang="en-US" b="1" dirty="0">
                <a:latin typeface="Calibri" panose="020F0502020204030204" pitchFamily="34" charset="0"/>
                <a:cs typeface="Calibri" panose="020F0502020204030204" pitchFamily="34" charset="0"/>
              </a:rPr>
              <a:t>Overview</a:t>
            </a:r>
            <a:endParaRPr lang="en-IN" dirty="0"/>
          </a:p>
        </p:txBody>
      </p:sp>
      <p:sp>
        <p:nvSpPr>
          <p:cNvPr id="3" name="Content Placeholder 2">
            <a:extLst>
              <a:ext uri="{FF2B5EF4-FFF2-40B4-BE49-F238E27FC236}">
                <a16:creationId xmlns:a16="http://schemas.microsoft.com/office/drawing/2014/main" id="{9AFBD5D3-0F30-4AE7-144B-2978137506E3}"/>
              </a:ext>
            </a:extLst>
          </p:cNvPr>
          <p:cNvSpPr>
            <a:spLocks noGrp="1"/>
          </p:cNvSpPr>
          <p:nvPr>
            <p:ph idx="1"/>
          </p:nvPr>
        </p:nvSpPr>
        <p:spPr/>
        <p:txBody>
          <a:bodyPr/>
          <a:lstStyle/>
          <a:p>
            <a:pPr eaLnBrk="1" hangingPunct="1"/>
            <a:r>
              <a:rPr lang="en-IN" altLang="en-US" sz="1800" dirty="0">
                <a:latin typeface="Calibri" panose="020F0502020204030204" pitchFamily="34" charset="0"/>
                <a:cs typeface="Calibri" panose="020F0502020204030204" pitchFamily="34" charset="0"/>
              </a:rPr>
              <a:t>Abstract</a:t>
            </a:r>
          </a:p>
          <a:p>
            <a:pPr eaLnBrk="1" hangingPunct="1"/>
            <a:r>
              <a:rPr lang="en-IN" altLang="en-US" sz="1800" dirty="0">
                <a:latin typeface="Calibri" panose="020F0502020204030204" pitchFamily="34" charset="0"/>
                <a:cs typeface="Calibri" panose="020F0502020204030204" pitchFamily="34" charset="0"/>
              </a:rPr>
              <a:t>Problem Statement</a:t>
            </a:r>
          </a:p>
          <a:p>
            <a:pPr eaLnBrk="1" hangingPunct="1"/>
            <a:r>
              <a:rPr lang="en-IN" altLang="en-US" sz="1800" dirty="0">
                <a:latin typeface="Calibri" panose="020F0502020204030204" pitchFamily="34" charset="0"/>
                <a:cs typeface="Calibri" panose="020F0502020204030204" pitchFamily="34" charset="0"/>
              </a:rPr>
              <a:t>Introduction</a:t>
            </a:r>
          </a:p>
          <a:p>
            <a:pPr eaLnBrk="1" hangingPunct="1"/>
            <a:r>
              <a:rPr lang="en-IN" altLang="en-US" sz="1800" dirty="0">
                <a:latin typeface="Calibri" panose="020F0502020204030204" pitchFamily="34" charset="0"/>
                <a:cs typeface="Calibri" panose="020F0502020204030204" pitchFamily="34" charset="0"/>
              </a:rPr>
              <a:t>Literature survey</a:t>
            </a:r>
          </a:p>
          <a:p>
            <a:pPr eaLnBrk="1" hangingPunct="1"/>
            <a:r>
              <a:rPr lang="en-IN" altLang="en-US" sz="1800" dirty="0">
                <a:latin typeface="Calibri" panose="020F0502020204030204" pitchFamily="34" charset="0"/>
                <a:cs typeface="Calibri" panose="020F0502020204030204" pitchFamily="34" charset="0"/>
              </a:rPr>
              <a:t>Design</a:t>
            </a:r>
          </a:p>
          <a:p>
            <a:pPr eaLnBrk="1" hangingPunct="1"/>
            <a:r>
              <a:rPr lang="en-IN" altLang="en-US" sz="1800" dirty="0">
                <a:latin typeface="Calibri" panose="020F0502020204030204" pitchFamily="34" charset="0"/>
                <a:cs typeface="Calibri" panose="020F0502020204030204" pitchFamily="34" charset="0"/>
              </a:rPr>
              <a:t>Methodology</a:t>
            </a:r>
          </a:p>
          <a:p>
            <a:pPr eaLnBrk="1" hangingPunct="1"/>
            <a:r>
              <a:rPr lang="en-IN" altLang="en-US" sz="1800" dirty="0">
                <a:latin typeface="Calibri" panose="020F0502020204030204" pitchFamily="34" charset="0"/>
                <a:cs typeface="Calibri" panose="020F0502020204030204" pitchFamily="34" charset="0"/>
              </a:rPr>
              <a:t>References</a:t>
            </a:r>
          </a:p>
          <a:p>
            <a:endParaRPr lang="en-IN" dirty="0"/>
          </a:p>
        </p:txBody>
      </p:sp>
    </p:spTree>
    <p:extLst>
      <p:ext uri="{BB962C8B-B14F-4D97-AF65-F5344CB8AC3E}">
        <p14:creationId xmlns:p14="http://schemas.microsoft.com/office/powerpoint/2010/main" val="2114222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850AC-62F7-661C-9C10-BF6FB65D88CE}"/>
              </a:ext>
            </a:extLst>
          </p:cNvPr>
          <p:cNvSpPr>
            <a:spLocks noGrp="1"/>
          </p:cNvSpPr>
          <p:nvPr>
            <p:ph type="title"/>
          </p:nvPr>
        </p:nvSpPr>
        <p:spPr/>
        <p:txBody>
          <a:bodyPr/>
          <a:lstStyle/>
          <a:p>
            <a:r>
              <a:rPr lang="en-IN" altLang="en-US" b="1" dirty="0">
                <a:latin typeface="Calibri" panose="020F0502020204030204" pitchFamily="34" charset="0"/>
                <a:cs typeface="Calibri" panose="020F0502020204030204" pitchFamily="34" charset="0"/>
              </a:rPr>
              <a:t>Abstract</a:t>
            </a:r>
            <a:endParaRPr lang="en-IN" dirty="0"/>
          </a:p>
        </p:txBody>
      </p:sp>
      <p:sp>
        <p:nvSpPr>
          <p:cNvPr id="3" name="Content Placeholder 2">
            <a:extLst>
              <a:ext uri="{FF2B5EF4-FFF2-40B4-BE49-F238E27FC236}">
                <a16:creationId xmlns:a16="http://schemas.microsoft.com/office/drawing/2014/main" id="{C7D1A100-69B5-E0F5-2C09-A21AD5927A82}"/>
              </a:ext>
            </a:extLst>
          </p:cNvPr>
          <p:cNvSpPr>
            <a:spLocks noGrp="1"/>
          </p:cNvSpPr>
          <p:nvPr>
            <p:ph idx="1"/>
          </p:nvPr>
        </p:nvSpPr>
        <p:spPr/>
        <p:txBody>
          <a:bodyPr>
            <a:normAutofit fontScale="92500" lnSpcReduction="20000"/>
          </a:bodyPr>
          <a:lstStyle/>
          <a:p>
            <a:r>
              <a:rPr lang="en-US" dirty="0"/>
              <a:t>Machine learning plays a major role from past years in image detection, Spam recognition, normal speech command, product recommendation and medical diagnosis along it provides better customer service and safer automobile systems. This shows that ML is trend in almost all fields so we try to coined up ML in our project for betterment. Nowadays, people looking to buy a new home tend to be more conservative with their budgets and market strategies. The current systems main disadvantage is that the calculation of house prices are done without the necessary prediction about future market trends and price increase. The goal of the project is to predict the efficient house pricing for real estate customers with respect to their budgets and priorities. In the present paper we discuss about the prediction of future housing prices that is generated by machine learning algorithm. In-order to select the prediction methods we compare and explore various prediction methods. To predict the future price, the previous market trends, price ranges and also upcoming development will be analyzed. Every year House prices increase , so there is a need for a system to predict house prices in the future. We create a housing cost prediction model in view of Machine Learning algorithm models such as Lasso Regression, Ridge Regression, Ada-Boost Regression, Linear Regression, Decision Tree Regression, Random Forest Regression. House price prediction on a data set has been done by using all the above mentioned techniques to find out the best among them. The developer and customer will be benefited by this model on determining the selling price of a house and helps the latter to arrange the right time to purchase a house.</a:t>
            </a:r>
            <a:endParaRPr lang="en-IN" dirty="0"/>
          </a:p>
        </p:txBody>
      </p:sp>
    </p:spTree>
    <p:extLst>
      <p:ext uri="{BB962C8B-B14F-4D97-AF65-F5344CB8AC3E}">
        <p14:creationId xmlns:p14="http://schemas.microsoft.com/office/powerpoint/2010/main" val="1446027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90EF6-CFFE-F033-9340-7E25FA6BA128}"/>
              </a:ext>
            </a:extLst>
          </p:cNvPr>
          <p:cNvSpPr>
            <a:spLocks noGrp="1"/>
          </p:cNvSpPr>
          <p:nvPr>
            <p:ph type="title"/>
          </p:nvPr>
        </p:nvSpPr>
        <p:spPr/>
        <p:txBody>
          <a:bodyPr/>
          <a:lstStyle/>
          <a:p>
            <a:r>
              <a:rPr lang="en-IN" b="1" dirty="0">
                <a:latin typeface="Calibri" panose="020F0502020204030204" pitchFamily="34" charset="0"/>
                <a:cs typeface="Calibri" panose="020F0502020204030204" pitchFamily="34" charset="0"/>
              </a:rPr>
              <a:t>Problem Statement</a:t>
            </a:r>
            <a:endParaRPr lang="en-IN" dirty="0"/>
          </a:p>
        </p:txBody>
      </p:sp>
      <p:sp>
        <p:nvSpPr>
          <p:cNvPr id="3" name="Content Placeholder 2">
            <a:extLst>
              <a:ext uri="{FF2B5EF4-FFF2-40B4-BE49-F238E27FC236}">
                <a16:creationId xmlns:a16="http://schemas.microsoft.com/office/drawing/2014/main" id="{9EC18D01-C809-046C-CDFD-518839D21C8C}"/>
              </a:ext>
            </a:extLst>
          </p:cNvPr>
          <p:cNvSpPr>
            <a:spLocks noGrp="1"/>
          </p:cNvSpPr>
          <p:nvPr>
            <p:ph idx="1"/>
          </p:nvPr>
        </p:nvSpPr>
        <p:spPr>
          <a:xfrm>
            <a:off x="685800" y="1445780"/>
            <a:ext cx="10131425" cy="3649133"/>
          </a:xfrm>
        </p:spPr>
        <p:txBody>
          <a:bodyPr/>
          <a:lstStyle/>
          <a:p>
            <a:r>
              <a:rPr lang="en-US" b="0" i="0" dirty="0">
                <a:effectLst/>
                <a:latin typeface="-apple-system"/>
              </a:rPr>
              <a:t>The real estate markets present an interesting opportunity for data analysts to analyze and predict where property prices are moving upwards. Prediction of property prices is becoming increasingly important and beneficial. Property prices are a good indicator of both the overall market condition and the economic health of a country. The buyers are just not concerned only about the size(square feet) of the house but there are various other factors that play a key role to decide the price of a house/property. Considering the data provided, we are wrangling a large set of property sales records with unknown data quality issues.</a:t>
            </a:r>
            <a:endParaRPr lang="en-IN" dirty="0"/>
          </a:p>
        </p:txBody>
      </p:sp>
    </p:spTree>
    <p:extLst>
      <p:ext uri="{BB962C8B-B14F-4D97-AF65-F5344CB8AC3E}">
        <p14:creationId xmlns:p14="http://schemas.microsoft.com/office/powerpoint/2010/main" val="1753812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FD797-A3B6-2CF6-B50B-B72025C9349F}"/>
              </a:ext>
            </a:extLst>
          </p:cNvPr>
          <p:cNvSpPr>
            <a:spLocks noGrp="1"/>
          </p:cNvSpPr>
          <p:nvPr>
            <p:ph type="title"/>
          </p:nvPr>
        </p:nvSpPr>
        <p:spPr>
          <a:xfrm>
            <a:off x="954248" y="961938"/>
            <a:ext cx="10131425" cy="1456267"/>
          </a:xfrm>
        </p:spPr>
        <p:txBody>
          <a:bodyPr/>
          <a:lstStyle/>
          <a:p>
            <a:r>
              <a:rPr lang="en-IN" altLang="en-US" b="1" dirty="0">
                <a:latin typeface="Calibri" panose="020F0502020204030204" pitchFamily="34" charset="0"/>
                <a:cs typeface="Calibri" panose="020F0502020204030204" pitchFamily="34" charset="0"/>
              </a:rPr>
              <a:t>Introduction</a:t>
            </a:r>
            <a:endParaRPr lang="en-IN" dirty="0"/>
          </a:p>
        </p:txBody>
      </p:sp>
      <p:sp>
        <p:nvSpPr>
          <p:cNvPr id="3" name="Content Placeholder 2">
            <a:extLst>
              <a:ext uri="{FF2B5EF4-FFF2-40B4-BE49-F238E27FC236}">
                <a16:creationId xmlns:a16="http://schemas.microsoft.com/office/drawing/2014/main" id="{8C876BE1-A2A1-444A-0EA3-EF03AC25FEB1}"/>
              </a:ext>
            </a:extLst>
          </p:cNvPr>
          <p:cNvSpPr>
            <a:spLocks noGrp="1"/>
          </p:cNvSpPr>
          <p:nvPr>
            <p:ph idx="1"/>
          </p:nvPr>
        </p:nvSpPr>
        <p:spPr/>
        <p:txBody>
          <a:bodyPr/>
          <a:lstStyle/>
          <a:p>
            <a:r>
              <a:rPr lang="en-US" dirty="0"/>
              <a:t>In this project, the house price prediction of the house is done using different Machine Learning algorithms like Random Forest Regression, Ridge Regression, LASSO Regression, Decision Tree Regression, </a:t>
            </a:r>
            <a:r>
              <a:rPr lang="en-US" dirty="0" err="1"/>
              <a:t>XGBoost</a:t>
            </a:r>
            <a:r>
              <a:rPr lang="en-US" dirty="0"/>
              <a:t> Regression and we use Ada-Boost algorithm for boosting up the weak learners to strong learners. This work applies various techniques such as variance influence factor, dimensionality reduction techniques and data transformation techniques such as outliers and missing value treatment as well as box-cox transformation techniques. Several factors that are affecting the house price includes the physical attributes, location as well as several economic factors persuading at that time. These all indicate that house price prediction is an emerging research area of regression which requires the knowledge of machine learning.</a:t>
            </a:r>
            <a:endParaRPr lang="en-IN" dirty="0"/>
          </a:p>
        </p:txBody>
      </p:sp>
    </p:spTree>
    <p:extLst>
      <p:ext uri="{BB962C8B-B14F-4D97-AF65-F5344CB8AC3E}">
        <p14:creationId xmlns:p14="http://schemas.microsoft.com/office/powerpoint/2010/main" val="2460258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2EC64-CB63-0914-5D25-8966F596E1CE}"/>
              </a:ext>
            </a:extLst>
          </p:cNvPr>
          <p:cNvSpPr>
            <a:spLocks noGrp="1"/>
          </p:cNvSpPr>
          <p:nvPr>
            <p:ph type="title"/>
          </p:nvPr>
        </p:nvSpPr>
        <p:spPr/>
        <p:txBody>
          <a:bodyPr/>
          <a:lstStyle/>
          <a:p>
            <a:r>
              <a:rPr lang="en-IN" b="1" dirty="0"/>
              <a:t>LITERATURE SURVEY</a:t>
            </a:r>
          </a:p>
        </p:txBody>
      </p:sp>
      <p:sp>
        <p:nvSpPr>
          <p:cNvPr id="6" name="Content Placeholder 5">
            <a:extLst>
              <a:ext uri="{FF2B5EF4-FFF2-40B4-BE49-F238E27FC236}">
                <a16:creationId xmlns:a16="http://schemas.microsoft.com/office/drawing/2014/main" id="{6835CA28-21FF-B1A2-CD6A-1F700A4D242E}"/>
              </a:ext>
            </a:extLst>
          </p:cNvPr>
          <p:cNvSpPr>
            <a:spLocks noGrp="1"/>
          </p:cNvSpPr>
          <p:nvPr>
            <p:ph idx="1"/>
          </p:nvPr>
        </p:nvSpPr>
        <p:spPr>
          <a:xfrm>
            <a:off x="685802" y="2142067"/>
            <a:ext cx="4834154" cy="3649133"/>
          </a:xfrm>
        </p:spPr>
        <p:txBody>
          <a:bodyPr>
            <a:normAutofit/>
          </a:bodyPr>
          <a:lstStyle/>
          <a:p>
            <a:r>
              <a:rPr lang="en-US" sz="1400" dirty="0"/>
              <a:t>[1] P. </a:t>
            </a:r>
            <a:r>
              <a:rPr lang="en-US" sz="1400" dirty="0" err="1"/>
              <a:t>Durganjali</a:t>
            </a:r>
            <a:r>
              <a:rPr lang="en-US" sz="1400" dirty="0"/>
              <a:t>, et al., proposed a house resale price prediction using classification algorithms. In this paper, the resale price prediction of the house is done using different classification algorithms like Logistic regression, Decision tree, Naive Bayes and Random forest is used and we use International Journal of Computer Sciences and Engineering Vol.8(7), July 2020, E-ISSN: 2347-2693 © 2020, IJCSE All Rights Reserved 99 AdaBoost algorithm for boosting up the weak learners to strong learners. Several factors that are affecting the house resale price includes the physical attributes, location as well as several economic factors persuading at that time. Here we consider accuracy as the performance metrics for different datasets and these algorithms are applied and compared to discover the most appropriate method that can be used the reference for determining the resale price by the sellers.</a:t>
            </a:r>
            <a:endParaRPr lang="en-IN" sz="1400" dirty="0"/>
          </a:p>
        </p:txBody>
      </p:sp>
      <p:sp>
        <p:nvSpPr>
          <p:cNvPr id="7" name="TextBox 6">
            <a:extLst>
              <a:ext uri="{FF2B5EF4-FFF2-40B4-BE49-F238E27FC236}">
                <a16:creationId xmlns:a16="http://schemas.microsoft.com/office/drawing/2014/main" id="{84B970B0-D3E1-ED6E-39C0-AE375B6E68E5}"/>
              </a:ext>
            </a:extLst>
          </p:cNvPr>
          <p:cNvSpPr txBox="1"/>
          <p:nvPr/>
        </p:nvSpPr>
        <p:spPr>
          <a:xfrm>
            <a:off x="5983073" y="2162728"/>
            <a:ext cx="4834153" cy="3108543"/>
          </a:xfrm>
          <a:prstGeom prst="rect">
            <a:avLst/>
          </a:prstGeom>
          <a:noFill/>
        </p:spPr>
        <p:txBody>
          <a:bodyPr wrap="square" rtlCol="0">
            <a:spAutoFit/>
          </a:bodyPr>
          <a:lstStyle/>
          <a:p>
            <a:r>
              <a:rPr lang="en-US" sz="1400" dirty="0"/>
              <a:t>[2] </a:t>
            </a:r>
            <a:r>
              <a:rPr lang="en-US" sz="1400" dirty="0" err="1"/>
              <a:t>Ayush</a:t>
            </a:r>
            <a:r>
              <a:rPr lang="en-US" sz="1400" dirty="0"/>
              <a:t> Varma , et al., proposed house price prediction using machine learning and neural networks. Housing prices keep changing day in and day out and sometimes are hyped rather than being based on valuation. Predicting housing prices with real factors is the main crux of our research project. Here we aim to make our evaluations based on every basic parameter that is considered while determining the price. We use various regression techniques in this pathway, and our results are not sole determination of one technique rather it is the weighted mean of various techniques to give most accurate results. The results proved that this approach yields minimum error and maximum accuracy than individual algorithms applied. We also propose to use real-time neighborhood details using Google maps to get exact real-world valuations.</a:t>
            </a:r>
            <a:endParaRPr lang="en-IN" sz="1400" dirty="0"/>
          </a:p>
        </p:txBody>
      </p:sp>
    </p:spTree>
    <p:extLst>
      <p:ext uri="{BB962C8B-B14F-4D97-AF65-F5344CB8AC3E}">
        <p14:creationId xmlns:p14="http://schemas.microsoft.com/office/powerpoint/2010/main" val="44645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0C84-2513-1151-40DC-18331E4D032D}"/>
              </a:ext>
            </a:extLst>
          </p:cNvPr>
          <p:cNvSpPr>
            <a:spLocks noGrp="1"/>
          </p:cNvSpPr>
          <p:nvPr>
            <p:ph type="title"/>
          </p:nvPr>
        </p:nvSpPr>
        <p:spPr/>
        <p:txBody>
          <a:bodyPr/>
          <a:lstStyle/>
          <a:p>
            <a:r>
              <a:rPr lang="en-IN" b="1" dirty="0"/>
              <a:t>LITERATURE SURVEY</a:t>
            </a:r>
          </a:p>
        </p:txBody>
      </p:sp>
      <p:sp>
        <p:nvSpPr>
          <p:cNvPr id="3" name="Content Placeholder 2">
            <a:extLst>
              <a:ext uri="{FF2B5EF4-FFF2-40B4-BE49-F238E27FC236}">
                <a16:creationId xmlns:a16="http://schemas.microsoft.com/office/drawing/2014/main" id="{44B6364E-5820-B0FE-230C-71E67B17D6CD}"/>
              </a:ext>
            </a:extLst>
          </p:cNvPr>
          <p:cNvSpPr>
            <a:spLocks noGrp="1"/>
          </p:cNvSpPr>
          <p:nvPr>
            <p:ph sz="half" idx="4294967295"/>
          </p:nvPr>
        </p:nvSpPr>
        <p:spPr>
          <a:xfrm>
            <a:off x="1100137" y="1990536"/>
            <a:ext cx="4995863" cy="3649662"/>
          </a:xfrm>
        </p:spPr>
        <p:txBody>
          <a:bodyPr>
            <a:normAutofit/>
          </a:bodyPr>
          <a:lstStyle/>
          <a:p>
            <a:r>
              <a:rPr lang="en-US" sz="1600" dirty="0"/>
              <a:t>[3] </a:t>
            </a:r>
            <a:r>
              <a:rPr lang="en-US" sz="1600" dirty="0" err="1"/>
              <a:t>Sifei</a:t>
            </a:r>
            <a:r>
              <a:rPr lang="en-US" sz="1600" dirty="0"/>
              <a:t> Lu, et al., proposed a hybrid regression technique for house prices prediction. With limited dataset and </a:t>
            </a:r>
            <a:r>
              <a:rPr lang="en-US" sz="1400" dirty="0"/>
              <a:t>data features, a practical and composite data pre-processing, creative feature engineering method is examined </a:t>
            </a:r>
            <a:r>
              <a:rPr lang="en-US" sz="1600" dirty="0"/>
              <a:t>in this paper. The paper also proposes a hybrid Lasso and Gradient boosting regression model to predict individual house price. The proposed approach has recently been deployed as the key kernel for Kaggle Challenge “House Prices: Advanced Regression Techniques”. The performance is promising as our latest score was ranked top 1% out of all competition teams and individuals. </a:t>
            </a:r>
            <a:endParaRPr lang="en-IN" sz="1600" dirty="0"/>
          </a:p>
        </p:txBody>
      </p:sp>
    </p:spTree>
    <p:extLst>
      <p:ext uri="{BB962C8B-B14F-4D97-AF65-F5344CB8AC3E}">
        <p14:creationId xmlns:p14="http://schemas.microsoft.com/office/powerpoint/2010/main" val="2324901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B9E4-1BD4-EA79-4A70-3EE3B9059739}"/>
              </a:ext>
            </a:extLst>
          </p:cNvPr>
          <p:cNvSpPr>
            <a:spLocks noGrp="1"/>
          </p:cNvSpPr>
          <p:nvPr>
            <p:ph type="title"/>
          </p:nvPr>
        </p:nvSpPr>
        <p:spPr/>
        <p:txBody>
          <a:bodyPr/>
          <a:lstStyle/>
          <a:p>
            <a:r>
              <a:rPr lang="en-IN" altLang="en-US" b="1" dirty="0">
                <a:latin typeface="Calibri" panose="020F0502020204030204" pitchFamily="34" charset="0"/>
                <a:cs typeface="Calibri" panose="020F0502020204030204" pitchFamily="34" charset="0"/>
              </a:rPr>
              <a:t>Design approach</a:t>
            </a:r>
            <a:endParaRPr lang="en-IN" dirty="0"/>
          </a:p>
        </p:txBody>
      </p:sp>
      <p:sp>
        <p:nvSpPr>
          <p:cNvPr id="15" name="Content Placeholder 14">
            <a:extLst>
              <a:ext uri="{FF2B5EF4-FFF2-40B4-BE49-F238E27FC236}">
                <a16:creationId xmlns:a16="http://schemas.microsoft.com/office/drawing/2014/main" id="{1785FE30-9DC7-6CC1-BC36-395330D7CA21}"/>
              </a:ext>
            </a:extLst>
          </p:cNvPr>
          <p:cNvSpPr>
            <a:spLocks noGrp="1"/>
          </p:cNvSpPr>
          <p:nvPr>
            <p:ph idx="1"/>
          </p:nvPr>
        </p:nvSpPr>
        <p:spPr/>
        <p:txBody>
          <a:bodyPr anchor="t"/>
          <a:lstStyle/>
          <a:p>
            <a:pPr marL="342900" indent="-342900">
              <a:buAutoNum type="alphaUcPeriod"/>
            </a:pPr>
            <a:r>
              <a:rPr lang="en-US" dirty="0"/>
              <a:t>Linear regression: Simple linear regression statistical method allows us to summarize and study the relationship between two continuous </a:t>
            </a:r>
            <a:r>
              <a:rPr lang="en-US" dirty="0" err="1"/>
              <a:t>quantitive</a:t>
            </a:r>
            <a:r>
              <a:rPr lang="en-US" dirty="0"/>
              <a:t> variables. </a:t>
            </a:r>
          </a:p>
          <a:p>
            <a:pPr lvl="1"/>
            <a:r>
              <a:rPr lang="en-US" dirty="0"/>
              <a:t>One variable, denoted x, is regarded as the predictor, explanatory, or independent variable. </a:t>
            </a:r>
          </a:p>
          <a:p>
            <a:pPr lvl="1"/>
            <a:r>
              <a:rPr lang="en-US" dirty="0"/>
              <a:t>The other variable, denoted y, is regarded as the response, outcome, or dependent variable. </a:t>
            </a:r>
          </a:p>
          <a:p>
            <a:pPr marL="342900" indent="-342900">
              <a:buFont typeface="Arial"/>
              <a:buAutoNum type="alphaUcPeriod"/>
            </a:pPr>
            <a:r>
              <a:rPr lang="en-IN" dirty="0"/>
              <a:t>The cost Function: </a:t>
            </a:r>
            <a:r>
              <a:rPr lang="en-US" dirty="0"/>
              <a:t>Thus let’s say, you expanded the size of a specific shop, the place you predicted that those deals might a chance to be higher. Be that in spite of expanding those size, those bargains in that shop didn't expand that a great deal. Thereabouts those expense connected Previously, expanding those span of the shop, provided for you negative outcomes. So, we necessity on minimize these cost. So we present an expense function, which is fundamentally used to characterize and measure those slip of the model.</a:t>
            </a:r>
            <a:endParaRPr lang="en-IN" dirty="0"/>
          </a:p>
          <a:p>
            <a:pPr marL="342900" indent="-342900">
              <a:buAutoNum type="alphaUcPeriod"/>
            </a:pPr>
            <a:endParaRPr lang="en-IN" dirty="0"/>
          </a:p>
        </p:txBody>
      </p:sp>
      <p:pic>
        <p:nvPicPr>
          <p:cNvPr id="17" name="Picture 16">
            <a:extLst>
              <a:ext uri="{FF2B5EF4-FFF2-40B4-BE49-F238E27FC236}">
                <a16:creationId xmlns:a16="http://schemas.microsoft.com/office/drawing/2014/main" id="{1AFD0919-F035-8596-2872-4080B97BCD76}"/>
              </a:ext>
            </a:extLst>
          </p:cNvPr>
          <p:cNvPicPr>
            <a:picLocks noChangeAspect="1"/>
          </p:cNvPicPr>
          <p:nvPr/>
        </p:nvPicPr>
        <p:blipFill>
          <a:blip r:embed="rId2"/>
          <a:stretch>
            <a:fillRect/>
          </a:stretch>
        </p:blipFill>
        <p:spPr>
          <a:xfrm>
            <a:off x="3557725" y="5307288"/>
            <a:ext cx="3482642" cy="967824"/>
          </a:xfrm>
          <a:prstGeom prst="rect">
            <a:avLst/>
          </a:prstGeom>
        </p:spPr>
      </p:pic>
    </p:spTree>
    <p:extLst>
      <p:ext uri="{BB962C8B-B14F-4D97-AF65-F5344CB8AC3E}">
        <p14:creationId xmlns:p14="http://schemas.microsoft.com/office/powerpoint/2010/main" val="3263046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85217-70EC-DFEB-FDA1-EBD0B6BFEA6D}"/>
              </a:ext>
            </a:extLst>
          </p:cNvPr>
          <p:cNvSpPr>
            <a:spLocks noGrp="1"/>
          </p:cNvSpPr>
          <p:nvPr>
            <p:ph type="title"/>
          </p:nvPr>
        </p:nvSpPr>
        <p:spPr/>
        <p:txBody>
          <a:bodyPr/>
          <a:lstStyle/>
          <a:p>
            <a:r>
              <a:rPr lang="en-IN" altLang="en-US" b="1" dirty="0">
                <a:latin typeface="Calibri" panose="020F0502020204030204" pitchFamily="34" charset="0"/>
                <a:cs typeface="Calibri" panose="020F0502020204030204" pitchFamily="34" charset="0"/>
              </a:rPr>
              <a:t>Design approach</a:t>
            </a:r>
            <a:endParaRPr lang="en-IN" dirty="0"/>
          </a:p>
        </p:txBody>
      </p:sp>
      <p:sp>
        <p:nvSpPr>
          <p:cNvPr id="3" name="Content Placeholder 2">
            <a:extLst>
              <a:ext uri="{FF2B5EF4-FFF2-40B4-BE49-F238E27FC236}">
                <a16:creationId xmlns:a16="http://schemas.microsoft.com/office/drawing/2014/main" id="{E210C659-36DC-C6D2-D677-B268964311BA}"/>
              </a:ext>
            </a:extLst>
          </p:cNvPr>
          <p:cNvSpPr>
            <a:spLocks noGrp="1"/>
          </p:cNvSpPr>
          <p:nvPr>
            <p:ph idx="1"/>
          </p:nvPr>
        </p:nvSpPr>
        <p:spPr/>
        <p:txBody>
          <a:bodyPr>
            <a:normAutofit fontScale="85000" lnSpcReduction="20000"/>
          </a:bodyPr>
          <a:lstStyle/>
          <a:p>
            <a:pPr marL="0" indent="0">
              <a:buNone/>
            </a:pPr>
            <a:r>
              <a:rPr lang="en-IN" sz="2100" dirty="0"/>
              <a:t>C.  Lasso Regression</a:t>
            </a:r>
          </a:p>
          <a:p>
            <a:pPr lvl="1"/>
            <a:r>
              <a:rPr lang="en-US" dirty="0"/>
              <a:t>Lasso regression which may be a standout among those relapse models that would accessible will examine the information. Further, the regression model may be demonstrated for a sample and the formula is Additionally recorded to reference. LASSO stands for Least Absolute Shrinkage and Selection Operator. </a:t>
            </a:r>
          </a:p>
          <a:p>
            <a:pPr lvl="1"/>
            <a:r>
              <a:rPr lang="en-US" dirty="0"/>
              <a:t>The lasso regression estimate is defined as </a:t>
            </a:r>
          </a:p>
          <a:p>
            <a:pPr lvl="1"/>
            <a:endParaRPr lang="en-US" dirty="0"/>
          </a:p>
          <a:p>
            <a:pPr lvl="1"/>
            <a:endParaRPr lang="en-US" dirty="0"/>
          </a:p>
          <a:p>
            <a:pPr lvl="1"/>
            <a:endParaRPr lang="en-US" dirty="0"/>
          </a:p>
          <a:p>
            <a:pPr lvl="1"/>
            <a:endParaRPr lang="en-US" dirty="0"/>
          </a:p>
          <a:p>
            <a:pPr lvl="1"/>
            <a:r>
              <a:rPr lang="en-US" dirty="0"/>
              <a:t>Here the turning component λ controls those quality for penalty, that is. When λ = 0: we get same coefficients Similarly as basic straight relapse. At λ = ∞: constantly on coefficients are zero. The point when 0 &lt; λ &lt; ∞: we get coefficients between 0 What's more that for basic straight relapse thus At λ is amidst the two extremes, we would adjusting those underneath two plans. </a:t>
            </a:r>
          </a:p>
          <a:p>
            <a:pPr lvl="2"/>
            <a:r>
              <a:rPr lang="en-US" dirty="0"/>
              <a:t>Fitting An straight model for y once X. </a:t>
            </a:r>
          </a:p>
          <a:p>
            <a:pPr lvl="2"/>
            <a:r>
              <a:rPr lang="en-US" dirty="0"/>
              <a:t>Contracting those coefficients. </a:t>
            </a:r>
            <a:endParaRPr lang="en-IN" dirty="0"/>
          </a:p>
        </p:txBody>
      </p:sp>
      <p:pic>
        <p:nvPicPr>
          <p:cNvPr id="5" name="Picture 4">
            <a:extLst>
              <a:ext uri="{FF2B5EF4-FFF2-40B4-BE49-F238E27FC236}">
                <a16:creationId xmlns:a16="http://schemas.microsoft.com/office/drawing/2014/main" id="{CA57993C-B658-4573-05B3-CF2DB95636A9}"/>
              </a:ext>
            </a:extLst>
          </p:cNvPr>
          <p:cNvPicPr>
            <a:picLocks noChangeAspect="1"/>
          </p:cNvPicPr>
          <p:nvPr/>
        </p:nvPicPr>
        <p:blipFill>
          <a:blip r:embed="rId2"/>
          <a:stretch>
            <a:fillRect/>
          </a:stretch>
        </p:blipFill>
        <p:spPr>
          <a:xfrm>
            <a:off x="3859823" y="3429000"/>
            <a:ext cx="3019623" cy="1115412"/>
          </a:xfrm>
          <a:prstGeom prst="rect">
            <a:avLst/>
          </a:prstGeom>
        </p:spPr>
      </p:pic>
    </p:spTree>
    <p:extLst>
      <p:ext uri="{BB962C8B-B14F-4D97-AF65-F5344CB8AC3E}">
        <p14:creationId xmlns:p14="http://schemas.microsoft.com/office/powerpoint/2010/main" val="575435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1D54A-8152-030A-BC43-F23C9DC5D206}"/>
              </a:ext>
            </a:extLst>
          </p:cNvPr>
          <p:cNvSpPr>
            <a:spLocks noGrp="1"/>
          </p:cNvSpPr>
          <p:nvPr>
            <p:ph type="title"/>
          </p:nvPr>
        </p:nvSpPr>
        <p:spPr/>
        <p:txBody>
          <a:bodyPr/>
          <a:lstStyle/>
          <a:p>
            <a:r>
              <a:rPr lang="en-IN" altLang="en-US" b="1" dirty="0">
                <a:latin typeface="Calibri" panose="020F0502020204030204" pitchFamily="34" charset="0"/>
                <a:cs typeface="Calibri" panose="020F0502020204030204" pitchFamily="34" charset="0"/>
              </a:rPr>
              <a:t>Design approach</a:t>
            </a:r>
            <a:endParaRPr lang="en-IN" dirty="0"/>
          </a:p>
        </p:txBody>
      </p:sp>
      <p:sp>
        <p:nvSpPr>
          <p:cNvPr id="3" name="Content Placeholder 2">
            <a:extLst>
              <a:ext uri="{FF2B5EF4-FFF2-40B4-BE49-F238E27FC236}">
                <a16:creationId xmlns:a16="http://schemas.microsoft.com/office/drawing/2014/main" id="{D98B29B4-D7BC-2882-DB6E-1756B23C3A8A}"/>
              </a:ext>
            </a:extLst>
          </p:cNvPr>
          <p:cNvSpPr>
            <a:spLocks noGrp="1"/>
          </p:cNvSpPr>
          <p:nvPr>
            <p:ph idx="1"/>
          </p:nvPr>
        </p:nvSpPr>
        <p:spPr/>
        <p:txBody>
          <a:bodyPr anchor="t"/>
          <a:lstStyle/>
          <a:p>
            <a:pPr marL="0" indent="0">
              <a:buNone/>
            </a:pPr>
            <a:r>
              <a:rPr lang="en-US" dirty="0"/>
              <a:t>E. Gradient Boosting algorithm. </a:t>
            </a:r>
          </a:p>
          <a:p>
            <a:pPr lvl="1"/>
            <a:r>
              <a:rPr lang="en-US" dirty="0"/>
              <a:t>Gradient boosting is a machine Taking in strategy to relapse Also arrangement problems, that produces a prediction model in the structure of an group from claiming powerless prediction models. The exactness of a predictive model might be helped to two ways:. Possibly by grasping characteristic building alternately. Toward applying boosting calculations straight far. There are a significant number boosting calculations in. </a:t>
            </a:r>
          </a:p>
          <a:p>
            <a:pPr lvl="2"/>
            <a:r>
              <a:rPr lang="en-US" dirty="0"/>
              <a:t>Gradient Boosting </a:t>
            </a:r>
          </a:p>
          <a:p>
            <a:pPr lvl="2"/>
            <a:r>
              <a:rPr lang="en-US" dirty="0" err="1"/>
              <a:t>XGBoost</a:t>
            </a:r>
            <a:r>
              <a:rPr lang="en-US" dirty="0"/>
              <a:t> </a:t>
            </a:r>
          </a:p>
          <a:p>
            <a:pPr lvl="2"/>
            <a:r>
              <a:rPr lang="en-US" dirty="0"/>
              <a:t>AdaBoost </a:t>
            </a:r>
          </a:p>
          <a:p>
            <a:pPr lvl="2"/>
            <a:r>
              <a:rPr lang="en-US" dirty="0"/>
              <a:t>Gentle Boost etc.</a:t>
            </a:r>
            <a:endParaRPr lang="en-IN" dirty="0"/>
          </a:p>
        </p:txBody>
      </p:sp>
    </p:spTree>
    <p:extLst>
      <p:ext uri="{BB962C8B-B14F-4D97-AF65-F5344CB8AC3E}">
        <p14:creationId xmlns:p14="http://schemas.microsoft.com/office/powerpoint/2010/main" val="3153537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BB5005-8A25-5968-1485-4C9E13242515}"/>
              </a:ext>
            </a:extLst>
          </p:cNvPr>
          <p:cNvPicPr>
            <a:picLocks noChangeAspect="1"/>
          </p:cNvPicPr>
          <p:nvPr/>
        </p:nvPicPr>
        <p:blipFill>
          <a:blip r:embed="rId2"/>
          <a:stretch>
            <a:fillRect/>
          </a:stretch>
        </p:blipFill>
        <p:spPr>
          <a:xfrm>
            <a:off x="3392767" y="1761690"/>
            <a:ext cx="4729077" cy="3587576"/>
          </a:xfrm>
          <a:prstGeom prst="rect">
            <a:avLst/>
          </a:prstGeom>
        </p:spPr>
      </p:pic>
    </p:spTree>
    <p:extLst>
      <p:ext uri="{BB962C8B-B14F-4D97-AF65-F5344CB8AC3E}">
        <p14:creationId xmlns:p14="http://schemas.microsoft.com/office/powerpoint/2010/main" val="246187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0B0848-5C0C-463A-93B3-F0C767729169}"/>
              </a:ext>
            </a:extLst>
          </p:cNvPr>
          <p:cNvPicPr>
            <a:picLocks noChangeAspect="1"/>
          </p:cNvPicPr>
          <p:nvPr/>
        </p:nvPicPr>
        <p:blipFill>
          <a:blip r:embed="rId2"/>
          <a:stretch>
            <a:fillRect/>
          </a:stretch>
        </p:blipFill>
        <p:spPr>
          <a:xfrm>
            <a:off x="1230208" y="239753"/>
            <a:ext cx="9731583" cy="6378493"/>
          </a:xfrm>
          <a:prstGeom prst="rect">
            <a:avLst/>
          </a:prstGeom>
        </p:spPr>
      </p:pic>
    </p:spTree>
    <p:extLst>
      <p:ext uri="{BB962C8B-B14F-4D97-AF65-F5344CB8AC3E}">
        <p14:creationId xmlns:p14="http://schemas.microsoft.com/office/powerpoint/2010/main" val="504604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5893A9-7158-4415-A9AD-23A5F2971AD6}"/>
              </a:ext>
            </a:extLst>
          </p:cNvPr>
          <p:cNvPicPr>
            <a:picLocks noChangeAspect="1"/>
          </p:cNvPicPr>
          <p:nvPr/>
        </p:nvPicPr>
        <p:blipFill>
          <a:blip r:embed="rId2"/>
          <a:stretch>
            <a:fillRect/>
          </a:stretch>
        </p:blipFill>
        <p:spPr>
          <a:xfrm>
            <a:off x="1377541" y="492609"/>
            <a:ext cx="9701101" cy="6149873"/>
          </a:xfrm>
          <a:prstGeom prst="rect">
            <a:avLst/>
          </a:prstGeom>
        </p:spPr>
      </p:pic>
    </p:spTree>
    <p:extLst>
      <p:ext uri="{BB962C8B-B14F-4D97-AF65-F5344CB8AC3E}">
        <p14:creationId xmlns:p14="http://schemas.microsoft.com/office/powerpoint/2010/main" val="2853101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0FBCA3-7FA6-4679-86AA-A985FB3EE519}"/>
              </a:ext>
            </a:extLst>
          </p:cNvPr>
          <p:cNvPicPr>
            <a:picLocks noChangeAspect="1"/>
          </p:cNvPicPr>
          <p:nvPr/>
        </p:nvPicPr>
        <p:blipFill>
          <a:blip r:embed="rId2"/>
          <a:stretch>
            <a:fillRect/>
          </a:stretch>
        </p:blipFill>
        <p:spPr>
          <a:xfrm>
            <a:off x="1560945" y="624864"/>
            <a:ext cx="9504220" cy="5720518"/>
          </a:xfrm>
          <a:prstGeom prst="rect">
            <a:avLst/>
          </a:prstGeom>
        </p:spPr>
      </p:pic>
    </p:spTree>
    <p:extLst>
      <p:ext uri="{BB962C8B-B14F-4D97-AF65-F5344CB8AC3E}">
        <p14:creationId xmlns:p14="http://schemas.microsoft.com/office/powerpoint/2010/main" val="4161246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DCC29-DF60-E2C3-8627-29C5F53020D3}"/>
              </a:ext>
            </a:extLst>
          </p:cNvPr>
          <p:cNvSpPr>
            <a:spLocks noGrp="1"/>
          </p:cNvSpPr>
          <p:nvPr>
            <p:ph type="title"/>
          </p:nvPr>
        </p:nvSpPr>
        <p:spPr/>
        <p:txBody>
          <a:bodyPr/>
          <a:lstStyle/>
          <a:p>
            <a:r>
              <a:rPr lang="en-IN" altLang="en-US" b="1" dirty="0">
                <a:latin typeface="Calibri" panose="020F0502020204030204" pitchFamily="34" charset="0"/>
                <a:cs typeface="Calibri" panose="020F0502020204030204" pitchFamily="34" charset="0"/>
              </a:rPr>
              <a:t>Methodology</a:t>
            </a:r>
            <a:endParaRPr lang="en-IN" dirty="0"/>
          </a:p>
        </p:txBody>
      </p:sp>
      <p:sp>
        <p:nvSpPr>
          <p:cNvPr id="7" name="Content Placeholder 6">
            <a:extLst>
              <a:ext uri="{FF2B5EF4-FFF2-40B4-BE49-F238E27FC236}">
                <a16:creationId xmlns:a16="http://schemas.microsoft.com/office/drawing/2014/main" id="{845112AA-A0E9-9953-51B4-C796B885ED80}"/>
              </a:ext>
            </a:extLst>
          </p:cNvPr>
          <p:cNvSpPr>
            <a:spLocks noGrp="1"/>
          </p:cNvSpPr>
          <p:nvPr>
            <p:ph idx="1"/>
          </p:nvPr>
        </p:nvSpPr>
        <p:spPr>
          <a:xfrm>
            <a:off x="685801" y="2065867"/>
            <a:ext cx="6996375" cy="3649133"/>
          </a:xfrm>
        </p:spPr>
        <p:txBody>
          <a:bodyPr>
            <a:normAutofit/>
          </a:bodyPr>
          <a:lstStyle/>
          <a:p>
            <a:r>
              <a:rPr lang="en-US" dirty="0"/>
              <a:t>Reading the data to plot the graphs:</a:t>
            </a:r>
          </a:p>
          <a:p>
            <a:endParaRPr lang="en-US" dirty="0"/>
          </a:p>
          <a:p>
            <a:r>
              <a:rPr lang="en-US" dirty="0"/>
              <a:t> Using the above data, code to show plot a relation between number of bedrooms and number of houses:</a:t>
            </a:r>
          </a:p>
          <a:p>
            <a:endParaRPr lang="en-US" dirty="0"/>
          </a:p>
          <a:p>
            <a:r>
              <a:rPr lang="en-US" dirty="0"/>
              <a:t> Code to plot relation between Price and Living area: </a:t>
            </a:r>
          </a:p>
          <a:p>
            <a:endParaRPr lang="en-US" dirty="0"/>
          </a:p>
          <a:p>
            <a:r>
              <a:rPr lang="en-US" dirty="0"/>
              <a:t>Plots relation between price and latitudes: </a:t>
            </a:r>
          </a:p>
          <a:p>
            <a:endParaRPr lang="en-US" dirty="0"/>
          </a:p>
        </p:txBody>
      </p:sp>
      <p:pic>
        <p:nvPicPr>
          <p:cNvPr id="4" name="Picture 3">
            <a:extLst>
              <a:ext uri="{FF2B5EF4-FFF2-40B4-BE49-F238E27FC236}">
                <a16:creationId xmlns:a16="http://schemas.microsoft.com/office/drawing/2014/main" id="{B935E5A5-0004-1623-3E4C-756D9B7E9AA8}"/>
              </a:ext>
            </a:extLst>
          </p:cNvPr>
          <p:cNvPicPr>
            <a:picLocks noChangeAspect="1"/>
          </p:cNvPicPr>
          <p:nvPr/>
        </p:nvPicPr>
        <p:blipFill>
          <a:blip r:embed="rId2"/>
          <a:stretch>
            <a:fillRect/>
          </a:stretch>
        </p:blipFill>
        <p:spPr>
          <a:xfrm>
            <a:off x="4640454" y="2212791"/>
            <a:ext cx="2911092" cy="350550"/>
          </a:xfrm>
          <a:prstGeom prst="rect">
            <a:avLst/>
          </a:prstGeom>
        </p:spPr>
      </p:pic>
      <p:pic>
        <p:nvPicPr>
          <p:cNvPr id="6" name="Picture 5">
            <a:extLst>
              <a:ext uri="{FF2B5EF4-FFF2-40B4-BE49-F238E27FC236}">
                <a16:creationId xmlns:a16="http://schemas.microsoft.com/office/drawing/2014/main" id="{EB86DE8C-D473-21EA-0FC2-D83E038FB1D1}"/>
              </a:ext>
            </a:extLst>
          </p:cNvPr>
          <p:cNvPicPr>
            <a:picLocks noChangeAspect="1"/>
          </p:cNvPicPr>
          <p:nvPr/>
        </p:nvPicPr>
        <p:blipFill>
          <a:blip r:embed="rId3"/>
          <a:stretch>
            <a:fillRect/>
          </a:stretch>
        </p:blipFill>
        <p:spPr>
          <a:xfrm>
            <a:off x="8110015" y="2541773"/>
            <a:ext cx="2796782" cy="1051651"/>
          </a:xfrm>
          <a:prstGeom prst="rect">
            <a:avLst/>
          </a:prstGeom>
        </p:spPr>
      </p:pic>
      <p:pic>
        <p:nvPicPr>
          <p:cNvPr id="9" name="Picture 8">
            <a:extLst>
              <a:ext uri="{FF2B5EF4-FFF2-40B4-BE49-F238E27FC236}">
                <a16:creationId xmlns:a16="http://schemas.microsoft.com/office/drawing/2014/main" id="{C6C2717A-25E2-6E16-C2B9-4B5182C28DDD}"/>
              </a:ext>
            </a:extLst>
          </p:cNvPr>
          <p:cNvPicPr>
            <a:picLocks noChangeAspect="1"/>
          </p:cNvPicPr>
          <p:nvPr/>
        </p:nvPicPr>
        <p:blipFill>
          <a:blip r:embed="rId4"/>
          <a:stretch>
            <a:fillRect/>
          </a:stretch>
        </p:blipFill>
        <p:spPr>
          <a:xfrm>
            <a:off x="6235067" y="3888336"/>
            <a:ext cx="2758679" cy="1005927"/>
          </a:xfrm>
          <a:prstGeom prst="rect">
            <a:avLst/>
          </a:prstGeom>
        </p:spPr>
      </p:pic>
      <p:pic>
        <p:nvPicPr>
          <p:cNvPr id="11" name="Picture 10">
            <a:extLst>
              <a:ext uri="{FF2B5EF4-FFF2-40B4-BE49-F238E27FC236}">
                <a16:creationId xmlns:a16="http://schemas.microsoft.com/office/drawing/2014/main" id="{40FD97F3-8FE2-D867-74E6-4F7F438F5020}"/>
              </a:ext>
            </a:extLst>
          </p:cNvPr>
          <p:cNvPicPr>
            <a:picLocks noChangeAspect="1"/>
          </p:cNvPicPr>
          <p:nvPr/>
        </p:nvPicPr>
        <p:blipFill>
          <a:blip r:embed="rId5"/>
          <a:stretch>
            <a:fillRect/>
          </a:stretch>
        </p:blipFill>
        <p:spPr>
          <a:xfrm>
            <a:off x="4391225" y="5431303"/>
            <a:ext cx="2720576" cy="1028789"/>
          </a:xfrm>
          <a:prstGeom prst="rect">
            <a:avLst/>
          </a:prstGeom>
        </p:spPr>
      </p:pic>
    </p:spTree>
    <p:extLst>
      <p:ext uri="{BB962C8B-B14F-4D97-AF65-F5344CB8AC3E}">
        <p14:creationId xmlns:p14="http://schemas.microsoft.com/office/powerpoint/2010/main" val="1948457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783C8-17D4-34D8-419E-B684285B2B66}"/>
              </a:ext>
            </a:extLst>
          </p:cNvPr>
          <p:cNvSpPr>
            <a:spLocks noGrp="1"/>
          </p:cNvSpPr>
          <p:nvPr>
            <p:ph type="title"/>
          </p:nvPr>
        </p:nvSpPr>
        <p:spPr/>
        <p:txBody>
          <a:bodyPr/>
          <a:lstStyle/>
          <a:p>
            <a:r>
              <a:rPr lang="en-IN" b="1" dirty="0"/>
              <a:t>METHODOLOGY</a:t>
            </a:r>
          </a:p>
        </p:txBody>
      </p:sp>
      <p:sp>
        <p:nvSpPr>
          <p:cNvPr id="3" name="Content Placeholder 2">
            <a:extLst>
              <a:ext uri="{FF2B5EF4-FFF2-40B4-BE49-F238E27FC236}">
                <a16:creationId xmlns:a16="http://schemas.microsoft.com/office/drawing/2014/main" id="{90097BBD-6D2C-F376-F202-4777E3E06BA5}"/>
              </a:ext>
            </a:extLst>
          </p:cNvPr>
          <p:cNvSpPr>
            <a:spLocks noGrp="1"/>
          </p:cNvSpPr>
          <p:nvPr>
            <p:ph idx="1"/>
          </p:nvPr>
        </p:nvSpPr>
        <p:spPr>
          <a:xfrm>
            <a:off x="685801" y="1966877"/>
            <a:ext cx="10131425" cy="3649133"/>
          </a:xfrm>
        </p:spPr>
        <p:txBody>
          <a:bodyPr>
            <a:normAutofit/>
          </a:bodyPr>
          <a:lstStyle/>
          <a:p>
            <a:r>
              <a:rPr lang="en-US" dirty="0"/>
              <a:t>Plots relation between price and area:</a:t>
            </a:r>
          </a:p>
          <a:p>
            <a:endParaRPr lang="en-US" dirty="0"/>
          </a:p>
          <a:p>
            <a:endParaRPr lang="en-IN" dirty="0"/>
          </a:p>
          <a:p>
            <a:r>
              <a:rPr lang="en-US" dirty="0"/>
              <a:t>Plots relation between waterfront and price: </a:t>
            </a:r>
          </a:p>
          <a:p>
            <a:endParaRPr lang="en-US" dirty="0"/>
          </a:p>
          <a:p>
            <a:endParaRPr lang="en-US" dirty="0"/>
          </a:p>
          <a:p>
            <a:r>
              <a:rPr lang="en-US" dirty="0"/>
              <a:t>Plots relation between condition and price: </a:t>
            </a:r>
          </a:p>
          <a:p>
            <a:endParaRPr lang="en-US" dirty="0"/>
          </a:p>
        </p:txBody>
      </p:sp>
      <p:pic>
        <p:nvPicPr>
          <p:cNvPr id="5" name="Picture 4">
            <a:extLst>
              <a:ext uri="{FF2B5EF4-FFF2-40B4-BE49-F238E27FC236}">
                <a16:creationId xmlns:a16="http://schemas.microsoft.com/office/drawing/2014/main" id="{FA90D07D-88AA-60B7-21FE-FC2F7A84B69E}"/>
              </a:ext>
            </a:extLst>
          </p:cNvPr>
          <p:cNvPicPr>
            <a:picLocks noChangeAspect="1"/>
          </p:cNvPicPr>
          <p:nvPr/>
        </p:nvPicPr>
        <p:blipFill>
          <a:blip r:embed="rId2"/>
          <a:stretch>
            <a:fillRect/>
          </a:stretch>
        </p:blipFill>
        <p:spPr>
          <a:xfrm>
            <a:off x="4851748" y="1782350"/>
            <a:ext cx="3025402" cy="1158340"/>
          </a:xfrm>
          <a:prstGeom prst="rect">
            <a:avLst/>
          </a:prstGeom>
        </p:spPr>
      </p:pic>
      <p:pic>
        <p:nvPicPr>
          <p:cNvPr id="7" name="Picture 6">
            <a:extLst>
              <a:ext uri="{FF2B5EF4-FFF2-40B4-BE49-F238E27FC236}">
                <a16:creationId xmlns:a16="http://schemas.microsoft.com/office/drawing/2014/main" id="{80F84538-B60C-7B6E-31C7-631437E595AB}"/>
              </a:ext>
            </a:extLst>
          </p:cNvPr>
          <p:cNvPicPr>
            <a:picLocks noChangeAspect="1"/>
          </p:cNvPicPr>
          <p:nvPr/>
        </p:nvPicPr>
        <p:blipFill>
          <a:blip r:embed="rId3"/>
          <a:stretch>
            <a:fillRect/>
          </a:stretch>
        </p:blipFill>
        <p:spPr>
          <a:xfrm>
            <a:off x="5424880" y="3238946"/>
            <a:ext cx="3063505" cy="1104996"/>
          </a:xfrm>
          <a:prstGeom prst="rect">
            <a:avLst/>
          </a:prstGeom>
        </p:spPr>
      </p:pic>
      <p:pic>
        <p:nvPicPr>
          <p:cNvPr id="9" name="Picture 8">
            <a:extLst>
              <a:ext uri="{FF2B5EF4-FFF2-40B4-BE49-F238E27FC236}">
                <a16:creationId xmlns:a16="http://schemas.microsoft.com/office/drawing/2014/main" id="{6BD6FD27-71A3-FE3F-13A9-FCC012E37973}"/>
              </a:ext>
            </a:extLst>
          </p:cNvPr>
          <p:cNvPicPr>
            <a:picLocks noChangeAspect="1"/>
          </p:cNvPicPr>
          <p:nvPr/>
        </p:nvPicPr>
        <p:blipFill>
          <a:blip r:embed="rId4"/>
          <a:stretch>
            <a:fillRect/>
          </a:stretch>
        </p:blipFill>
        <p:spPr>
          <a:xfrm>
            <a:off x="5239913" y="4494690"/>
            <a:ext cx="2987299" cy="1143099"/>
          </a:xfrm>
          <a:prstGeom prst="rect">
            <a:avLst/>
          </a:prstGeom>
        </p:spPr>
      </p:pic>
    </p:spTree>
    <p:extLst>
      <p:ext uri="{BB962C8B-B14F-4D97-AF65-F5344CB8AC3E}">
        <p14:creationId xmlns:p14="http://schemas.microsoft.com/office/powerpoint/2010/main" val="1571830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30ECF-013B-7E8D-E99A-5A8AD3316168}"/>
              </a:ext>
            </a:extLst>
          </p:cNvPr>
          <p:cNvSpPr>
            <a:spLocks noGrp="1"/>
          </p:cNvSpPr>
          <p:nvPr>
            <p:ph type="title"/>
          </p:nvPr>
        </p:nvSpPr>
        <p:spPr/>
        <p:txBody>
          <a:bodyPr/>
          <a:lstStyle/>
          <a:p>
            <a:r>
              <a:rPr lang="en-IN" b="1" dirty="0"/>
              <a:t>METHODOLOGY</a:t>
            </a:r>
          </a:p>
        </p:txBody>
      </p:sp>
      <p:sp>
        <p:nvSpPr>
          <p:cNvPr id="3" name="Content Placeholder 2">
            <a:extLst>
              <a:ext uri="{FF2B5EF4-FFF2-40B4-BE49-F238E27FC236}">
                <a16:creationId xmlns:a16="http://schemas.microsoft.com/office/drawing/2014/main" id="{3D927393-CCC4-0911-F73E-7EE84FECC841}"/>
              </a:ext>
            </a:extLst>
          </p:cNvPr>
          <p:cNvSpPr>
            <a:spLocks noGrp="1"/>
          </p:cNvSpPr>
          <p:nvPr>
            <p:ph idx="1"/>
          </p:nvPr>
        </p:nvSpPr>
        <p:spPr>
          <a:xfrm>
            <a:off x="685801" y="2200790"/>
            <a:ext cx="10131425" cy="3649133"/>
          </a:xfrm>
        </p:spPr>
        <p:txBody>
          <a:bodyPr>
            <a:normAutofit/>
          </a:bodyPr>
          <a:lstStyle/>
          <a:p>
            <a:r>
              <a:rPr lang="en-US" dirty="0"/>
              <a:t>Feeding model with training data: </a:t>
            </a:r>
          </a:p>
          <a:p>
            <a:endParaRPr lang="en-US" dirty="0"/>
          </a:p>
          <a:p>
            <a:r>
              <a:rPr lang="en-US" dirty="0"/>
              <a:t>Training the model with Linear Regression Algorithm:</a:t>
            </a:r>
          </a:p>
          <a:p>
            <a:endParaRPr lang="en-US" dirty="0"/>
          </a:p>
          <a:p>
            <a:r>
              <a:rPr lang="en-US" dirty="0"/>
              <a:t> Training the model with Lasso Regression:</a:t>
            </a:r>
          </a:p>
          <a:p>
            <a:endParaRPr lang="en-US" dirty="0"/>
          </a:p>
          <a:p>
            <a:r>
              <a:rPr lang="en-US" dirty="0"/>
              <a:t> Reading the test data which is dynamically given in excel sheet:</a:t>
            </a:r>
          </a:p>
          <a:p>
            <a:endParaRPr lang="en-US" dirty="0"/>
          </a:p>
          <a:p>
            <a:endParaRPr lang="en-IN" dirty="0"/>
          </a:p>
        </p:txBody>
      </p:sp>
      <p:pic>
        <p:nvPicPr>
          <p:cNvPr id="5" name="Picture 4">
            <a:extLst>
              <a:ext uri="{FF2B5EF4-FFF2-40B4-BE49-F238E27FC236}">
                <a16:creationId xmlns:a16="http://schemas.microsoft.com/office/drawing/2014/main" id="{EED81E6C-EFA0-124E-3A24-753569C9C69C}"/>
              </a:ext>
            </a:extLst>
          </p:cNvPr>
          <p:cNvPicPr>
            <a:picLocks noChangeAspect="1"/>
          </p:cNvPicPr>
          <p:nvPr/>
        </p:nvPicPr>
        <p:blipFill>
          <a:blip r:embed="rId2"/>
          <a:stretch>
            <a:fillRect/>
          </a:stretch>
        </p:blipFill>
        <p:spPr>
          <a:xfrm>
            <a:off x="4460735" y="2095231"/>
            <a:ext cx="3017782" cy="624894"/>
          </a:xfrm>
          <a:prstGeom prst="rect">
            <a:avLst/>
          </a:prstGeom>
        </p:spPr>
      </p:pic>
      <p:pic>
        <p:nvPicPr>
          <p:cNvPr id="7" name="Picture 6">
            <a:extLst>
              <a:ext uri="{FF2B5EF4-FFF2-40B4-BE49-F238E27FC236}">
                <a16:creationId xmlns:a16="http://schemas.microsoft.com/office/drawing/2014/main" id="{6A0FB9E4-9B52-4996-D392-E33FC8F92558}"/>
              </a:ext>
            </a:extLst>
          </p:cNvPr>
          <p:cNvPicPr>
            <a:picLocks noChangeAspect="1"/>
          </p:cNvPicPr>
          <p:nvPr/>
        </p:nvPicPr>
        <p:blipFill>
          <a:blip r:embed="rId3"/>
          <a:stretch>
            <a:fillRect/>
          </a:stretch>
        </p:blipFill>
        <p:spPr>
          <a:xfrm>
            <a:off x="6220918" y="2825684"/>
            <a:ext cx="3635055" cy="777307"/>
          </a:xfrm>
          <a:prstGeom prst="rect">
            <a:avLst/>
          </a:prstGeom>
        </p:spPr>
      </p:pic>
      <p:pic>
        <p:nvPicPr>
          <p:cNvPr id="9" name="Picture 8">
            <a:extLst>
              <a:ext uri="{FF2B5EF4-FFF2-40B4-BE49-F238E27FC236}">
                <a16:creationId xmlns:a16="http://schemas.microsoft.com/office/drawing/2014/main" id="{5F9A13B9-5C0C-2D18-C98E-A5E4D1BF1E6D}"/>
              </a:ext>
            </a:extLst>
          </p:cNvPr>
          <p:cNvPicPr>
            <a:picLocks noChangeAspect="1"/>
          </p:cNvPicPr>
          <p:nvPr/>
        </p:nvPicPr>
        <p:blipFill>
          <a:blip r:embed="rId4"/>
          <a:stretch>
            <a:fillRect/>
          </a:stretch>
        </p:blipFill>
        <p:spPr>
          <a:xfrm>
            <a:off x="5177490" y="3737914"/>
            <a:ext cx="3709074" cy="806649"/>
          </a:xfrm>
          <a:prstGeom prst="rect">
            <a:avLst/>
          </a:prstGeom>
        </p:spPr>
      </p:pic>
      <p:pic>
        <p:nvPicPr>
          <p:cNvPr id="11" name="Picture 10">
            <a:extLst>
              <a:ext uri="{FF2B5EF4-FFF2-40B4-BE49-F238E27FC236}">
                <a16:creationId xmlns:a16="http://schemas.microsoft.com/office/drawing/2014/main" id="{2AF884EC-7B5F-FC6D-8BE2-4AF6AC7278BD}"/>
              </a:ext>
            </a:extLst>
          </p:cNvPr>
          <p:cNvPicPr>
            <a:picLocks noChangeAspect="1"/>
          </p:cNvPicPr>
          <p:nvPr/>
        </p:nvPicPr>
        <p:blipFill>
          <a:blip r:embed="rId5"/>
          <a:stretch>
            <a:fillRect/>
          </a:stretch>
        </p:blipFill>
        <p:spPr>
          <a:xfrm>
            <a:off x="3581873" y="5297166"/>
            <a:ext cx="2796782" cy="167655"/>
          </a:xfrm>
          <a:prstGeom prst="rect">
            <a:avLst/>
          </a:prstGeom>
        </p:spPr>
      </p:pic>
    </p:spTree>
    <p:extLst>
      <p:ext uri="{BB962C8B-B14F-4D97-AF65-F5344CB8AC3E}">
        <p14:creationId xmlns:p14="http://schemas.microsoft.com/office/powerpoint/2010/main" val="1307590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5199F6-320E-4620-80C9-F9659003863E}"/>
              </a:ext>
            </a:extLst>
          </p:cNvPr>
          <p:cNvSpPr txBox="1"/>
          <p:nvPr/>
        </p:nvSpPr>
        <p:spPr>
          <a:xfrm>
            <a:off x="783771" y="492825"/>
            <a:ext cx="7162800" cy="646331"/>
          </a:xfrm>
          <a:prstGeom prst="rect">
            <a:avLst/>
          </a:prstGeom>
          <a:noFill/>
        </p:spPr>
        <p:txBody>
          <a:bodyPr wrap="square" rtlCol="0">
            <a:spAutoFit/>
          </a:bodyPr>
          <a:lstStyle/>
          <a:p>
            <a:r>
              <a:rPr lang="en-US" sz="3600" b="1" dirty="0">
                <a:latin typeface="+mj-lt"/>
              </a:rPr>
              <a:t>METHODOLOGY </a:t>
            </a:r>
            <a:r>
              <a:rPr lang="en-US" sz="3600" b="1" dirty="0"/>
              <a:t>(</a:t>
            </a:r>
            <a:r>
              <a:rPr lang="en-US" sz="3600" dirty="0"/>
              <a:t>Linear regression</a:t>
            </a:r>
            <a:r>
              <a:rPr lang="en-US" sz="3600" b="1" dirty="0"/>
              <a:t>) :</a:t>
            </a:r>
            <a:endParaRPr lang="en-IN" sz="3600" b="1" dirty="0"/>
          </a:p>
        </p:txBody>
      </p:sp>
      <p:sp>
        <p:nvSpPr>
          <p:cNvPr id="3" name="TextBox 2">
            <a:extLst>
              <a:ext uri="{FF2B5EF4-FFF2-40B4-BE49-F238E27FC236}">
                <a16:creationId xmlns:a16="http://schemas.microsoft.com/office/drawing/2014/main" id="{1506F6E8-AF48-4BFA-AF50-3DB116B08F45}"/>
              </a:ext>
            </a:extLst>
          </p:cNvPr>
          <p:cNvSpPr txBox="1"/>
          <p:nvPr/>
        </p:nvSpPr>
        <p:spPr>
          <a:xfrm>
            <a:off x="244763" y="1524000"/>
            <a:ext cx="11702473" cy="46198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0" i="0" dirty="0">
                <a:solidFill>
                  <a:schemeClr val="tx2"/>
                </a:solidFill>
                <a:effectLst/>
                <a:latin typeface="+mj-lt"/>
              </a:rPr>
              <a:t>Linear regression analysis is </a:t>
            </a:r>
            <a:r>
              <a:rPr lang="en-US" b="1" i="0" dirty="0">
                <a:solidFill>
                  <a:schemeClr val="tx2"/>
                </a:solidFill>
                <a:effectLst/>
                <a:latin typeface="+mj-lt"/>
              </a:rPr>
              <a:t>used to predict the value of a variable based on the value of another variable</a:t>
            </a:r>
            <a:r>
              <a:rPr lang="en-US" b="0" i="0" dirty="0">
                <a:solidFill>
                  <a:schemeClr val="tx2"/>
                </a:solidFill>
                <a:effectLst/>
                <a:latin typeface="+mj-lt"/>
              </a:rPr>
              <a:t>.</a:t>
            </a:r>
          </a:p>
          <a:p>
            <a:pPr>
              <a:lnSpc>
                <a:spcPct val="150000"/>
              </a:lnSpc>
            </a:pPr>
            <a:endParaRPr lang="en-US" b="0" i="0" dirty="0">
              <a:solidFill>
                <a:schemeClr val="tx2"/>
              </a:solidFill>
              <a:effectLst/>
              <a:latin typeface="+mj-lt"/>
            </a:endParaRPr>
          </a:p>
          <a:p>
            <a:pPr marL="285750" indent="-285750">
              <a:lnSpc>
                <a:spcPct val="150000"/>
              </a:lnSpc>
              <a:buFont typeface="Arial" panose="020B0604020202020204" pitchFamily="34" charset="0"/>
              <a:buChar char="•"/>
            </a:pPr>
            <a:r>
              <a:rPr lang="en-US" b="0" i="0" dirty="0">
                <a:solidFill>
                  <a:schemeClr val="tx2"/>
                </a:solidFill>
                <a:effectLst/>
                <a:latin typeface="+mj-lt"/>
              </a:rPr>
              <a:t>The variable you want to predict is called the dependent variable. The variable you are using to predict the other variable's value is called the independent variable.</a:t>
            </a:r>
            <a:br>
              <a:rPr lang="en-US" b="0" i="0" dirty="0">
                <a:solidFill>
                  <a:schemeClr val="tx2"/>
                </a:solidFill>
                <a:effectLst/>
                <a:latin typeface="+mj-lt"/>
              </a:rPr>
            </a:br>
            <a:endParaRPr lang="en-US" b="0" i="0" dirty="0">
              <a:solidFill>
                <a:schemeClr val="tx2"/>
              </a:solidFill>
              <a:effectLst/>
              <a:latin typeface="+mj-lt"/>
            </a:endParaRPr>
          </a:p>
          <a:p>
            <a:pPr marL="285750" indent="-285750">
              <a:lnSpc>
                <a:spcPct val="150000"/>
              </a:lnSpc>
              <a:buFont typeface="Arial" panose="020B0604020202020204" pitchFamily="34" charset="0"/>
              <a:buChar char="•"/>
            </a:pPr>
            <a:r>
              <a:rPr lang="en-US" b="0" i="0" dirty="0">
                <a:solidFill>
                  <a:schemeClr val="tx2"/>
                </a:solidFill>
                <a:effectLst/>
                <a:latin typeface="+mj-lt"/>
              </a:rPr>
              <a:t>Linear regression is </a:t>
            </a:r>
            <a:r>
              <a:rPr lang="en-US" b="1" i="0" dirty="0">
                <a:solidFill>
                  <a:schemeClr val="tx2"/>
                </a:solidFill>
                <a:effectLst/>
                <a:latin typeface="+mj-lt"/>
              </a:rPr>
              <a:t>commonly used for predictive analysis and modeling</a:t>
            </a:r>
            <a:r>
              <a:rPr lang="en-US" b="0" i="0" dirty="0">
                <a:solidFill>
                  <a:schemeClr val="tx2"/>
                </a:solidFill>
                <a:effectLst/>
                <a:latin typeface="+mj-lt"/>
              </a:rPr>
              <a:t>. For example, it can be used to quantify the relative impacts of age, gender, and diet (the predictor variables) on height (the outcome variable).</a:t>
            </a:r>
          </a:p>
          <a:p>
            <a:pPr>
              <a:lnSpc>
                <a:spcPct val="150000"/>
              </a:lnSpc>
            </a:pPr>
            <a:endParaRPr lang="en-US" b="0" i="0" dirty="0">
              <a:solidFill>
                <a:schemeClr val="tx2"/>
              </a:solidFill>
              <a:effectLst/>
              <a:latin typeface="+mj-lt"/>
            </a:endParaRPr>
          </a:p>
          <a:p>
            <a:pPr marL="285750" indent="-285750">
              <a:lnSpc>
                <a:spcPct val="150000"/>
              </a:lnSpc>
              <a:buFont typeface="Arial" panose="020B0604020202020204" pitchFamily="34" charset="0"/>
              <a:buChar char="•"/>
            </a:pPr>
            <a:r>
              <a:rPr lang="en-US" dirty="0">
                <a:solidFill>
                  <a:schemeClr val="tx2"/>
                </a:solidFill>
                <a:latin typeface="+mj-lt"/>
              </a:rPr>
              <a:t>L</a:t>
            </a:r>
            <a:r>
              <a:rPr lang="en-US" b="0" i="0" dirty="0">
                <a:solidFill>
                  <a:schemeClr val="tx2"/>
                </a:solidFill>
                <a:effectLst/>
                <a:latin typeface="+mj-lt"/>
              </a:rPr>
              <a:t>inear regression is used </a:t>
            </a:r>
            <a:r>
              <a:rPr lang="en-US" b="1" i="0" dirty="0">
                <a:solidFill>
                  <a:schemeClr val="tx2"/>
                </a:solidFill>
                <a:effectLst/>
                <a:latin typeface="+mj-lt"/>
              </a:rPr>
              <a:t>to determine the character and strength of the association between a dependent variable and a series of other independent variables</a:t>
            </a:r>
            <a:r>
              <a:rPr lang="en-US" b="0" i="0" dirty="0">
                <a:solidFill>
                  <a:schemeClr val="tx2"/>
                </a:solidFill>
                <a:effectLst/>
                <a:latin typeface="+mj-lt"/>
              </a:rPr>
              <a:t>. It helps create models to make predictions, such as predicting a company's stock price.</a:t>
            </a:r>
            <a:endParaRPr lang="en-IN" dirty="0">
              <a:solidFill>
                <a:schemeClr val="tx2"/>
              </a:solidFill>
              <a:latin typeface="+mj-lt"/>
            </a:endParaRPr>
          </a:p>
        </p:txBody>
      </p:sp>
    </p:spTree>
    <p:extLst>
      <p:ext uri="{BB962C8B-B14F-4D97-AF65-F5344CB8AC3E}">
        <p14:creationId xmlns:p14="http://schemas.microsoft.com/office/powerpoint/2010/main" val="1501436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9B40-DFF7-9420-3D23-AC683D258F7F}"/>
              </a:ext>
            </a:extLst>
          </p:cNvPr>
          <p:cNvSpPr>
            <a:spLocks noGrp="1"/>
          </p:cNvSpPr>
          <p:nvPr>
            <p:ph type="title"/>
          </p:nvPr>
        </p:nvSpPr>
        <p:spPr/>
        <p:txBody>
          <a:bodyPr/>
          <a:lstStyle/>
          <a:p>
            <a:r>
              <a:rPr lang="en-IN" altLang="en-US" b="1" dirty="0">
                <a:latin typeface="Calibri" panose="020F0502020204030204" pitchFamily="34" charset="0"/>
                <a:cs typeface="Calibri" panose="020F0502020204030204" pitchFamily="34" charset="0"/>
              </a:rPr>
              <a:t>References</a:t>
            </a:r>
            <a:endParaRPr lang="en-IN" dirty="0"/>
          </a:p>
        </p:txBody>
      </p:sp>
      <p:sp>
        <p:nvSpPr>
          <p:cNvPr id="3" name="Content Placeholder 2">
            <a:extLst>
              <a:ext uri="{FF2B5EF4-FFF2-40B4-BE49-F238E27FC236}">
                <a16:creationId xmlns:a16="http://schemas.microsoft.com/office/drawing/2014/main" id="{752C5A48-207E-EBD0-FDF0-A6D1B578CDEC}"/>
              </a:ext>
            </a:extLst>
          </p:cNvPr>
          <p:cNvSpPr>
            <a:spLocks noGrp="1"/>
          </p:cNvSpPr>
          <p:nvPr>
            <p:ph idx="1"/>
          </p:nvPr>
        </p:nvSpPr>
        <p:spPr/>
        <p:txBody>
          <a:bodyPr/>
          <a:lstStyle/>
          <a:p>
            <a:pPr marL="0" indent="0">
              <a:buNone/>
            </a:pPr>
            <a:endParaRPr lang="en-IN" dirty="0"/>
          </a:p>
          <a:p>
            <a:endParaRPr lang="en-IN" dirty="0"/>
          </a:p>
        </p:txBody>
      </p:sp>
    </p:spTree>
    <p:extLst>
      <p:ext uri="{BB962C8B-B14F-4D97-AF65-F5344CB8AC3E}">
        <p14:creationId xmlns:p14="http://schemas.microsoft.com/office/powerpoint/2010/main" val="3248531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docProps/app.xml><?xml version="1.0" encoding="utf-8"?>
<Properties xmlns="http://schemas.openxmlformats.org/officeDocument/2006/extended-properties" xmlns:vt="http://schemas.openxmlformats.org/officeDocument/2006/docPropsVTypes">
  <Template>Celestial</Template>
  <TotalTime>219</TotalTime>
  <Words>1655</Words>
  <Application>Microsoft Office PowerPoint</Application>
  <PresentationFormat>Widescreen</PresentationFormat>
  <Paragraphs>86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-apple-system</vt:lpstr>
      <vt:lpstr>Arial</vt:lpstr>
      <vt:lpstr>Calibri</vt:lpstr>
      <vt:lpstr>Calibri Light</vt:lpstr>
      <vt:lpstr>Cambria,Bold</vt:lpstr>
      <vt:lpstr>Celestial</vt:lpstr>
      <vt:lpstr>PowerPoint Presentation</vt:lpstr>
      <vt:lpstr>Overview</vt:lpstr>
      <vt:lpstr>Abstract</vt:lpstr>
      <vt:lpstr>Problem Statement</vt:lpstr>
      <vt:lpstr>Introduction</vt:lpstr>
      <vt:lpstr>LITERATURE SURVEY</vt:lpstr>
      <vt:lpstr>LITERATURE SURVEY</vt:lpstr>
      <vt:lpstr>Design approach</vt:lpstr>
      <vt:lpstr>Design approach</vt:lpstr>
      <vt:lpstr>Design approach</vt:lpstr>
      <vt:lpstr>PowerPoint Presentation</vt:lpstr>
      <vt:lpstr>PowerPoint Presentation</vt:lpstr>
      <vt:lpstr>PowerPoint Presentation</vt:lpstr>
      <vt:lpstr>PowerPoint Presentation</vt:lpstr>
      <vt:lpstr>Methodology</vt:lpstr>
      <vt:lpstr>METHODOLOGY</vt:lpstr>
      <vt:lpstr>METHODOLOGY</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Thomas</dc:creator>
  <cp:lastModifiedBy>Vivek Belagali</cp:lastModifiedBy>
  <cp:revision>3</cp:revision>
  <dcterms:created xsi:type="dcterms:W3CDTF">2022-10-11T16:41:54Z</dcterms:created>
  <dcterms:modified xsi:type="dcterms:W3CDTF">2022-12-07T16:45:42Z</dcterms:modified>
</cp:coreProperties>
</file>